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'Your most valuable enterprise data isn't rows - it's relationships. Graph Mind lets any AI tool ask those relationships questions in plain English, fast and safely.' Point at the three pills: no-LLM FastPath, read-only, and it already runs in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the value is in relationships, but they're unreachable, query-only-by-experts, and risky to hand to an AI. Tee up: 'what if any AI could just ask -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one-liner to remember: MCP server on Neo4j, natural language in, safe graph intelligence out. Three differentiators: no-Cypher via FastPath, plugs into VS Code + any AI, read-only and transparent.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Three consumers - VS Code, AI agents, our UI - all hit the same server over MCP/HTTP. Inside: FastPath handles common questions with no LLM; the LLM path covers complex phrasing; the read-only guard means only GET queries ever reach Neo4j. Results come back as a visual graph plus the Cypher.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fast-path / slow-path story: simple, common questions take the FastPath - regex straight to Cypher, no model, no tokens, no latency, no hallucination. Only complex or unusual phrasing falls through to the LLM API. So most traffic is free and deterministic, and the LLM is a fallback, not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 slide for enterprise judges. Four independent layers, not one switch: we scan inputs for bad keywords/injection, enforce read-only at the server, throttle failed/blocked retries so the guard can't be brute-forced, and surface the exact Cypher for audit. Key line: even a jailbroken or injected model can only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Run the multi-hop one live - 'my manager's manager's manager' - it lands instantly because FastPath handles it. Show it once in VS Code, once in the web UI where the result draws as a graph with the Cypher beside it. Emphasize: not slideware, it runs, and it's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leverage point: MCP turns this from 'a chatbot for our graph' into reusable infrastructure. Concrete proof - we built the server, and VS Code integration came essentially for free because it speaks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concrete, near-term hook — and it maps to a real product surface. The notification composer calls Graph Mind (via UI or MCP) to assemble an audience by region, department, role, channel, etc., instead of maintaining static distribution lists. Because it's a graph, audiences stay live and you can de-dupe across channels and resolve escalation paths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nothing in the architecture is employee-specific. FastPath patterns and the read-only guard apply to any graph. Point at risk/fraud and supply chain to signal enterprise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short - judges scan it. Message: proven parts, one open protocol, and a clever no-LLM shortcut. Buildable and maintainable, not a fragile hack.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vision line - note the word 'safely', tying back to read-only. Then one breath on what's next. End with the tagline and point to the live demo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1"/>
        </a:solidFill>
      </p:bgPr>
    </p:bg>
    <p:spTree>
      <p:nvGrpSpPr>
        <p:cNvPr id="1" name=""/>
        <p:cNvGrpSpPr/>
        <p:nvPr/>
      </p:nvGrpSpPr>
      <p:grpSpPr>
        <a:xfrm>
          <a:off x="0" y="0"/>
          <a:ext cx="0" cy="0"/>
          <a:chOff x="0" y="0"/>
          <a:chExt cx="0" cy="0"/>
        </a:xfrm>
      </p:grpSpPr>
      <p:sp>
        <p:nvSpPr>
          <p:cNvPr id="2" name="Shape 0"/>
          <p:cNvSpPr/>
          <p:nvPr/>
        </p:nvSpPr>
        <p:spPr>
          <a:xfrm>
            <a:off x="6181344" y="466344"/>
            <a:ext cx="1207008" cy="438912"/>
          </a:xfrm>
          <a:prstGeom prst="line">
            <a:avLst/>
          </a:prstGeom>
          <a:noFill/>
          <a:ln w="15875">
            <a:solidFill>
              <a:srgbClr val="2DD4BF">
                <a:alpha val="45000"/>
              </a:srgbClr>
            </a:solidFill>
            <a:prstDash val="solid"/>
          </a:ln>
        </p:spPr>
      </p:sp>
      <p:sp>
        <p:nvSpPr>
          <p:cNvPr id="3" name="Shape 1"/>
          <p:cNvSpPr/>
          <p:nvPr/>
        </p:nvSpPr>
        <p:spPr>
          <a:xfrm>
            <a:off x="6181344" y="466344"/>
            <a:ext cx="658368" cy="1316736"/>
          </a:xfrm>
          <a:prstGeom prst="line">
            <a:avLst/>
          </a:prstGeom>
          <a:noFill/>
          <a:ln w="15875">
            <a:solidFill>
              <a:srgbClr val="2DD4BF">
                <a:alpha val="45000"/>
              </a:srgbClr>
            </a:solidFill>
            <a:prstDash val="solid"/>
          </a:ln>
        </p:spPr>
      </p:sp>
      <p:sp>
        <p:nvSpPr>
          <p:cNvPr id="4" name="Shape 2"/>
          <p:cNvSpPr/>
          <p:nvPr/>
        </p:nvSpPr>
        <p:spPr>
          <a:xfrm>
            <a:off x="7388352" y="905256"/>
            <a:ext cx="768096" cy="987552"/>
          </a:xfrm>
          <a:prstGeom prst="line">
            <a:avLst/>
          </a:prstGeom>
          <a:noFill/>
          <a:ln w="15875">
            <a:solidFill>
              <a:srgbClr val="2DD4BF">
                <a:alpha val="45000"/>
              </a:srgbClr>
            </a:solidFill>
            <a:prstDash val="solid"/>
          </a:ln>
        </p:spPr>
      </p:sp>
      <p:sp>
        <p:nvSpPr>
          <p:cNvPr id="5" name="Shape 3"/>
          <p:cNvSpPr/>
          <p:nvPr/>
        </p:nvSpPr>
        <p:spPr>
          <a:xfrm>
            <a:off x="7388352" y="905256"/>
            <a:ext cx="1207008" cy="-219456"/>
          </a:xfrm>
          <a:prstGeom prst="line">
            <a:avLst/>
          </a:prstGeom>
          <a:noFill/>
          <a:ln w="15875">
            <a:solidFill>
              <a:srgbClr val="2DD4BF">
                <a:alpha val="45000"/>
              </a:srgbClr>
            </a:solidFill>
            <a:prstDash val="solid"/>
          </a:ln>
        </p:spPr>
      </p:sp>
      <p:sp>
        <p:nvSpPr>
          <p:cNvPr id="6" name="Shape 4"/>
          <p:cNvSpPr/>
          <p:nvPr/>
        </p:nvSpPr>
        <p:spPr>
          <a:xfrm>
            <a:off x="6839712" y="1783080"/>
            <a:ext cx="1316736" cy="109728"/>
          </a:xfrm>
          <a:prstGeom prst="line">
            <a:avLst/>
          </a:prstGeom>
          <a:noFill/>
          <a:ln w="15875">
            <a:solidFill>
              <a:srgbClr val="2DD4BF">
                <a:alpha val="45000"/>
              </a:srgbClr>
            </a:solidFill>
            <a:prstDash val="solid"/>
          </a:ln>
        </p:spPr>
      </p:sp>
      <p:sp>
        <p:nvSpPr>
          <p:cNvPr id="7" name="Shape 5"/>
          <p:cNvSpPr/>
          <p:nvPr/>
        </p:nvSpPr>
        <p:spPr>
          <a:xfrm>
            <a:off x="6839712" y="1783080"/>
            <a:ext cx="877824" cy="987552"/>
          </a:xfrm>
          <a:prstGeom prst="line">
            <a:avLst/>
          </a:prstGeom>
          <a:noFill/>
          <a:ln w="15875">
            <a:solidFill>
              <a:srgbClr val="2DD4BF">
                <a:alpha val="45000"/>
              </a:srgbClr>
            </a:solidFill>
            <a:prstDash val="solid"/>
          </a:ln>
        </p:spPr>
      </p:sp>
      <p:sp>
        <p:nvSpPr>
          <p:cNvPr id="8" name="Shape 6"/>
          <p:cNvSpPr/>
          <p:nvPr/>
        </p:nvSpPr>
        <p:spPr>
          <a:xfrm>
            <a:off x="8156448" y="1892808"/>
            <a:ext cx="-438912" cy="877824"/>
          </a:xfrm>
          <a:prstGeom prst="line">
            <a:avLst/>
          </a:prstGeom>
          <a:noFill/>
          <a:ln w="15875">
            <a:solidFill>
              <a:srgbClr val="2DD4BF">
                <a:alpha val="45000"/>
              </a:srgbClr>
            </a:solidFill>
            <a:prstDash val="solid"/>
          </a:ln>
        </p:spPr>
      </p:sp>
      <p:sp>
        <p:nvSpPr>
          <p:cNvPr id="9" name="Shape 7"/>
          <p:cNvSpPr/>
          <p:nvPr/>
        </p:nvSpPr>
        <p:spPr>
          <a:xfrm>
            <a:off x="6126480" y="411480"/>
            <a:ext cx="219456" cy="219456"/>
          </a:xfrm>
          <a:prstGeom prst="ellipse">
            <a:avLst/>
          </a:prstGeom>
          <a:solidFill>
            <a:srgbClr val="2DD4BF">
              <a:alpha val="85000"/>
            </a:srgbClr>
          </a:solidFill>
          <a:ln w="6350">
            <a:solidFill>
              <a:srgbClr val="F8FAFC">
                <a:alpha val="40000"/>
              </a:srgbClr>
            </a:solidFill>
            <a:prstDash val="solid"/>
          </a:ln>
        </p:spPr>
      </p:sp>
      <p:sp>
        <p:nvSpPr>
          <p:cNvPr id="10" name="Shape 8"/>
          <p:cNvSpPr/>
          <p:nvPr/>
        </p:nvSpPr>
        <p:spPr>
          <a:xfrm>
            <a:off x="7333488" y="850392"/>
            <a:ext cx="142646" cy="142646"/>
          </a:xfrm>
          <a:prstGeom prst="ellipse">
            <a:avLst/>
          </a:prstGeom>
          <a:solidFill>
            <a:srgbClr val="38BDF8">
              <a:alpha val="85000"/>
            </a:srgbClr>
          </a:solidFill>
          <a:ln w="6350">
            <a:solidFill>
              <a:srgbClr val="F8FAFC">
                <a:alpha val="40000"/>
              </a:srgbClr>
            </a:solidFill>
            <a:prstDash val="solid"/>
          </a:ln>
        </p:spPr>
      </p:sp>
      <p:sp>
        <p:nvSpPr>
          <p:cNvPr id="11" name="Shape 9"/>
          <p:cNvSpPr/>
          <p:nvPr/>
        </p:nvSpPr>
        <p:spPr>
          <a:xfrm>
            <a:off x="6784848" y="1728216"/>
            <a:ext cx="142646" cy="142646"/>
          </a:xfrm>
          <a:prstGeom prst="ellipse">
            <a:avLst/>
          </a:prstGeom>
          <a:solidFill>
            <a:srgbClr val="4ADE80">
              <a:alpha val="85000"/>
            </a:srgbClr>
          </a:solidFill>
          <a:ln w="6350">
            <a:solidFill>
              <a:srgbClr val="F8FAFC">
                <a:alpha val="40000"/>
              </a:srgbClr>
            </a:solidFill>
            <a:prstDash val="solid"/>
          </a:ln>
        </p:spPr>
      </p:sp>
      <p:sp>
        <p:nvSpPr>
          <p:cNvPr id="12" name="Shape 10"/>
          <p:cNvSpPr/>
          <p:nvPr/>
        </p:nvSpPr>
        <p:spPr>
          <a:xfrm>
            <a:off x="8101584" y="1837944"/>
            <a:ext cx="219456" cy="219456"/>
          </a:xfrm>
          <a:prstGeom prst="ellipse">
            <a:avLst/>
          </a:prstGeom>
          <a:solidFill>
            <a:srgbClr val="2DD4BF">
              <a:alpha val="85000"/>
            </a:srgbClr>
          </a:solidFill>
          <a:ln w="6350">
            <a:solidFill>
              <a:srgbClr val="F8FAFC">
                <a:alpha val="40000"/>
              </a:srgbClr>
            </a:solidFill>
            <a:prstDash val="solid"/>
          </a:ln>
        </p:spPr>
      </p:sp>
      <p:sp>
        <p:nvSpPr>
          <p:cNvPr id="13" name="Shape 11"/>
          <p:cNvSpPr/>
          <p:nvPr/>
        </p:nvSpPr>
        <p:spPr>
          <a:xfrm>
            <a:off x="8540496" y="630936"/>
            <a:ext cx="142646" cy="142646"/>
          </a:xfrm>
          <a:prstGeom prst="ellipse">
            <a:avLst/>
          </a:prstGeom>
          <a:solidFill>
            <a:srgbClr val="38BDF8">
              <a:alpha val="85000"/>
            </a:srgbClr>
          </a:solidFill>
          <a:ln w="6350">
            <a:solidFill>
              <a:srgbClr val="F8FAFC">
                <a:alpha val="40000"/>
              </a:srgbClr>
            </a:solidFill>
            <a:prstDash val="solid"/>
          </a:ln>
        </p:spPr>
      </p:sp>
      <p:sp>
        <p:nvSpPr>
          <p:cNvPr id="14" name="Shape 12"/>
          <p:cNvSpPr/>
          <p:nvPr/>
        </p:nvSpPr>
        <p:spPr>
          <a:xfrm>
            <a:off x="7662672" y="2715768"/>
            <a:ext cx="142646" cy="142646"/>
          </a:xfrm>
          <a:prstGeom prst="ellipse">
            <a:avLst/>
          </a:prstGeom>
          <a:solidFill>
            <a:srgbClr val="4ADE80">
              <a:alpha val="85000"/>
            </a:srgbClr>
          </a:solidFill>
          <a:ln w="6350">
            <a:solidFill>
              <a:srgbClr val="F8FAFC">
                <a:alpha val="40000"/>
              </a:srgbClr>
            </a:solidFill>
            <a:prstDash val="solid"/>
          </a:ln>
        </p:spPr>
      </p:sp>
      <p:sp>
        <p:nvSpPr>
          <p:cNvPr id="15" name="Shape 13"/>
          <p:cNvSpPr/>
          <p:nvPr/>
        </p:nvSpPr>
        <p:spPr>
          <a:xfrm>
            <a:off x="7797546" y="3865626"/>
            <a:ext cx="553212" cy="201168"/>
          </a:xfrm>
          <a:prstGeom prst="line">
            <a:avLst/>
          </a:prstGeom>
          <a:noFill/>
          <a:ln w="15875">
            <a:solidFill>
              <a:srgbClr val="2DD4BF">
                <a:alpha val="45000"/>
              </a:srgbClr>
            </a:solidFill>
            <a:prstDash val="solid"/>
          </a:ln>
        </p:spPr>
      </p:sp>
      <p:sp>
        <p:nvSpPr>
          <p:cNvPr id="16" name="Shape 14"/>
          <p:cNvSpPr/>
          <p:nvPr/>
        </p:nvSpPr>
        <p:spPr>
          <a:xfrm>
            <a:off x="7797546" y="3865626"/>
            <a:ext cx="301752" cy="603504"/>
          </a:xfrm>
          <a:prstGeom prst="line">
            <a:avLst/>
          </a:prstGeom>
          <a:noFill/>
          <a:ln w="15875">
            <a:solidFill>
              <a:srgbClr val="2DD4BF">
                <a:alpha val="45000"/>
              </a:srgbClr>
            </a:solidFill>
            <a:prstDash val="solid"/>
          </a:ln>
        </p:spPr>
      </p:sp>
      <p:sp>
        <p:nvSpPr>
          <p:cNvPr id="17" name="Shape 15"/>
          <p:cNvSpPr/>
          <p:nvPr/>
        </p:nvSpPr>
        <p:spPr>
          <a:xfrm>
            <a:off x="8350758" y="4066794"/>
            <a:ext cx="352044" cy="452628"/>
          </a:xfrm>
          <a:prstGeom prst="line">
            <a:avLst/>
          </a:prstGeom>
          <a:noFill/>
          <a:ln w="15875">
            <a:solidFill>
              <a:srgbClr val="2DD4BF">
                <a:alpha val="45000"/>
              </a:srgbClr>
            </a:solidFill>
            <a:prstDash val="solid"/>
          </a:ln>
        </p:spPr>
      </p:sp>
      <p:sp>
        <p:nvSpPr>
          <p:cNvPr id="18" name="Shape 16"/>
          <p:cNvSpPr/>
          <p:nvPr/>
        </p:nvSpPr>
        <p:spPr>
          <a:xfrm>
            <a:off x="8350758" y="4066794"/>
            <a:ext cx="553212" cy="-100584"/>
          </a:xfrm>
          <a:prstGeom prst="line">
            <a:avLst/>
          </a:prstGeom>
          <a:noFill/>
          <a:ln w="15875">
            <a:solidFill>
              <a:srgbClr val="2DD4BF">
                <a:alpha val="45000"/>
              </a:srgbClr>
            </a:solidFill>
            <a:prstDash val="solid"/>
          </a:ln>
        </p:spPr>
      </p:sp>
      <p:sp>
        <p:nvSpPr>
          <p:cNvPr id="19" name="Shape 17"/>
          <p:cNvSpPr/>
          <p:nvPr/>
        </p:nvSpPr>
        <p:spPr>
          <a:xfrm>
            <a:off x="8099298" y="4469130"/>
            <a:ext cx="603504" cy="50292"/>
          </a:xfrm>
          <a:prstGeom prst="line">
            <a:avLst/>
          </a:prstGeom>
          <a:noFill/>
          <a:ln w="15875">
            <a:solidFill>
              <a:srgbClr val="2DD4BF">
                <a:alpha val="45000"/>
              </a:srgbClr>
            </a:solidFill>
            <a:prstDash val="solid"/>
          </a:ln>
        </p:spPr>
      </p:sp>
      <p:sp>
        <p:nvSpPr>
          <p:cNvPr id="20" name="Shape 18"/>
          <p:cNvSpPr/>
          <p:nvPr/>
        </p:nvSpPr>
        <p:spPr>
          <a:xfrm>
            <a:off x="8099298" y="4469130"/>
            <a:ext cx="402336" cy="452628"/>
          </a:xfrm>
          <a:prstGeom prst="line">
            <a:avLst/>
          </a:prstGeom>
          <a:noFill/>
          <a:ln w="15875">
            <a:solidFill>
              <a:srgbClr val="2DD4BF">
                <a:alpha val="45000"/>
              </a:srgbClr>
            </a:solidFill>
            <a:prstDash val="solid"/>
          </a:ln>
        </p:spPr>
      </p:sp>
      <p:sp>
        <p:nvSpPr>
          <p:cNvPr id="21" name="Shape 19"/>
          <p:cNvSpPr/>
          <p:nvPr/>
        </p:nvSpPr>
        <p:spPr>
          <a:xfrm>
            <a:off x="8702802" y="4519422"/>
            <a:ext cx="-201168" cy="402336"/>
          </a:xfrm>
          <a:prstGeom prst="line">
            <a:avLst/>
          </a:prstGeom>
          <a:noFill/>
          <a:ln w="15875">
            <a:solidFill>
              <a:srgbClr val="2DD4BF">
                <a:alpha val="45000"/>
              </a:srgbClr>
            </a:solidFill>
            <a:prstDash val="solid"/>
          </a:ln>
        </p:spPr>
      </p:sp>
      <p:sp>
        <p:nvSpPr>
          <p:cNvPr id="22" name="Shape 20"/>
          <p:cNvSpPr/>
          <p:nvPr/>
        </p:nvSpPr>
        <p:spPr>
          <a:xfrm>
            <a:off x="7772400" y="3840480"/>
            <a:ext cx="100584" cy="100584"/>
          </a:xfrm>
          <a:prstGeom prst="ellipse">
            <a:avLst/>
          </a:prstGeom>
          <a:solidFill>
            <a:srgbClr val="2DD4BF">
              <a:alpha val="85000"/>
            </a:srgbClr>
          </a:solidFill>
          <a:ln w="6350">
            <a:solidFill>
              <a:srgbClr val="F8FAFC">
                <a:alpha val="40000"/>
              </a:srgbClr>
            </a:solidFill>
            <a:prstDash val="solid"/>
          </a:ln>
        </p:spPr>
      </p:sp>
      <p:sp>
        <p:nvSpPr>
          <p:cNvPr id="23" name="Shape 21"/>
          <p:cNvSpPr/>
          <p:nvPr/>
        </p:nvSpPr>
        <p:spPr>
          <a:xfrm>
            <a:off x="8325612" y="4041648"/>
            <a:ext cx="65380" cy="65380"/>
          </a:xfrm>
          <a:prstGeom prst="ellipse">
            <a:avLst/>
          </a:prstGeom>
          <a:solidFill>
            <a:srgbClr val="38BDF8">
              <a:alpha val="85000"/>
            </a:srgbClr>
          </a:solidFill>
          <a:ln w="6350">
            <a:solidFill>
              <a:srgbClr val="F8FAFC">
                <a:alpha val="40000"/>
              </a:srgbClr>
            </a:solidFill>
            <a:prstDash val="solid"/>
          </a:ln>
        </p:spPr>
      </p:sp>
      <p:sp>
        <p:nvSpPr>
          <p:cNvPr id="24" name="Shape 22"/>
          <p:cNvSpPr/>
          <p:nvPr/>
        </p:nvSpPr>
        <p:spPr>
          <a:xfrm>
            <a:off x="8074152" y="4443984"/>
            <a:ext cx="65380" cy="65380"/>
          </a:xfrm>
          <a:prstGeom prst="ellipse">
            <a:avLst/>
          </a:prstGeom>
          <a:solidFill>
            <a:srgbClr val="4ADE80">
              <a:alpha val="85000"/>
            </a:srgbClr>
          </a:solidFill>
          <a:ln w="6350">
            <a:solidFill>
              <a:srgbClr val="F8FAFC">
                <a:alpha val="40000"/>
              </a:srgbClr>
            </a:solidFill>
            <a:prstDash val="solid"/>
          </a:ln>
        </p:spPr>
      </p:sp>
      <p:sp>
        <p:nvSpPr>
          <p:cNvPr id="25" name="Shape 23"/>
          <p:cNvSpPr/>
          <p:nvPr/>
        </p:nvSpPr>
        <p:spPr>
          <a:xfrm>
            <a:off x="8677656" y="4494276"/>
            <a:ext cx="100584" cy="100584"/>
          </a:xfrm>
          <a:prstGeom prst="ellipse">
            <a:avLst/>
          </a:prstGeom>
          <a:solidFill>
            <a:srgbClr val="2DD4BF">
              <a:alpha val="85000"/>
            </a:srgbClr>
          </a:solidFill>
          <a:ln w="6350">
            <a:solidFill>
              <a:srgbClr val="F8FAFC">
                <a:alpha val="40000"/>
              </a:srgbClr>
            </a:solidFill>
            <a:prstDash val="solid"/>
          </a:ln>
        </p:spPr>
      </p:sp>
      <p:sp>
        <p:nvSpPr>
          <p:cNvPr id="26" name="Shape 24"/>
          <p:cNvSpPr/>
          <p:nvPr/>
        </p:nvSpPr>
        <p:spPr>
          <a:xfrm>
            <a:off x="8878824" y="3941064"/>
            <a:ext cx="65380" cy="65380"/>
          </a:xfrm>
          <a:prstGeom prst="ellipse">
            <a:avLst/>
          </a:prstGeom>
          <a:solidFill>
            <a:srgbClr val="38BDF8">
              <a:alpha val="85000"/>
            </a:srgbClr>
          </a:solidFill>
          <a:ln w="6350">
            <a:solidFill>
              <a:srgbClr val="F8FAFC">
                <a:alpha val="40000"/>
              </a:srgbClr>
            </a:solidFill>
            <a:prstDash val="solid"/>
          </a:ln>
        </p:spPr>
      </p:sp>
      <p:sp>
        <p:nvSpPr>
          <p:cNvPr id="27" name="Shape 25"/>
          <p:cNvSpPr/>
          <p:nvPr/>
        </p:nvSpPr>
        <p:spPr>
          <a:xfrm>
            <a:off x="8476488" y="4896612"/>
            <a:ext cx="65380" cy="65380"/>
          </a:xfrm>
          <a:prstGeom prst="ellipse">
            <a:avLst/>
          </a:prstGeom>
          <a:solidFill>
            <a:srgbClr val="4ADE80">
              <a:alpha val="85000"/>
            </a:srgbClr>
          </a:solidFill>
          <a:ln w="6350">
            <a:solidFill>
              <a:srgbClr val="F8FAFC">
                <a:alpha val="40000"/>
              </a:srgbClr>
            </a:solidFill>
            <a:prstDash val="solid"/>
          </a:ln>
        </p:spPr>
      </p:sp>
      <p:sp>
        <p:nvSpPr>
          <p:cNvPr id="28" name="Text 26"/>
          <p:cNvSpPr/>
          <p:nvPr/>
        </p:nvSpPr>
        <p:spPr>
          <a:xfrm>
            <a:off x="640080" y="868680"/>
            <a:ext cx="5486400" cy="365760"/>
          </a:xfrm>
          <a:prstGeom prst="rect">
            <a:avLst/>
          </a:prstGeom>
          <a:noFill/>
          <a:ln/>
        </p:spPr>
        <p:txBody>
          <a:bodyPr wrap="square" rtlCol="0" anchor="ctr"/>
          <a:lstStyle/>
          <a:p>
            <a:pPr indent="0" marL="0">
              <a:buNone/>
            </a:pPr>
            <a:r>
              <a:rPr lang="en-US" sz="1400" b="1" spc="300" kern="0" dirty="0">
                <a:solidFill>
                  <a:srgbClr val="2DD4BF"/>
                </a:solidFill>
                <a:latin typeface="Arial" pitchFamily="34" charset="0"/>
                <a:ea typeface="Arial" pitchFamily="34" charset="-122"/>
                <a:cs typeface="Arial" pitchFamily="34" charset="-120"/>
              </a:rPr>
              <a:t>AI  ×  KNOWLEDGE GRAPHS</a:t>
            </a:r>
            <a:endParaRPr lang="en-US" sz="1400" dirty="0"/>
          </a:p>
        </p:txBody>
      </p:sp>
      <p:sp>
        <p:nvSpPr>
          <p:cNvPr id="29" name="Text 27"/>
          <p:cNvSpPr/>
          <p:nvPr/>
        </p:nvSpPr>
        <p:spPr>
          <a:xfrm>
            <a:off x="594360" y="1280160"/>
            <a:ext cx="7772400" cy="1188720"/>
          </a:xfrm>
          <a:prstGeom prst="rect">
            <a:avLst/>
          </a:prstGeom>
          <a:noFill/>
          <a:ln/>
        </p:spPr>
        <p:txBody>
          <a:bodyPr wrap="square" rtlCol="0" anchor="ctr"/>
          <a:lstStyle/>
          <a:p>
            <a:pPr indent="0" marL="0">
              <a:buNone/>
            </a:pPr>
            <a:r>
              <a:rPr lang="en-US" sz="7200" b="1" dirty="0">
                <a:solidFill>
                  <a:srgbClr val="F8FAFC"/>
                </a:solidFill>
                <a:latin typeface="Arial" pitchFamily="34" charset="0"/>
                <a:ea typeface="Arial" pitchFamily="34" charset="-122"/>
                <a:cs typeface="Arial" pitchFamily="34" charset="-120"/>
              </a:rPr>
              <a:t>Graph Mind</a:t>
            </a:r>
            <a:endParaRPr lang="en-US" sz="7200" dirty="0"/>
          </a:p>
        </p:txBody>
      </p:sp>
      <p:sp>
        <p:nvSpPr>
          <p:cNvPr id="30" name="Text 28"/>
          <p:cNvSpPr/>
          <p:nvPr/>
        </p:nvSpPr>
        <p:spPr>
          <a:xfrm>
            <a:off x="640080" y="2542032"/>
            <a:ext cx="7680960" cy="822960"/>
          </a:xfrm>
          <a:prstGeom prst="rect">
            <a:avLst/>
          </a:prstGeom>
          <a:noFill/>
          <a:ln/>
        </p:spPr>
        <p:txBody>
          <a:bodyPr wrap="square" rtlCol="0" anchor="ctr"/>
          <a:lstStyle/>
          <a:p>
            <a:pPr indent="0" marL="0">
              <a:lnSpc>
                <a:spcPct val="110000"/>
              </a:lnSpc>
              <a:buNone/>
            </a:pPr>
            <a:r>
              <a:rPr lang="en-US" sz="2000" dirty="0">
                <a:solidFill>
                  <a:srgbClr val="94A3B8"/>
                </a:solidFill>
                <a:latin typeface="Calibri" pitchFamily="34" charset="0"/>
                <a:ea typeface="Calibri" pitchFamily="34" charset="-122"/>
                <a:cs typeface="Calibri" pitchFamily="34" charset="-120"/>
              </a:rPr>
              <a:t>An </a:t>
            </a:r>
            <a:pPr indent="0" marL="0">
              <a:lnSpc>
                <a:spcPct val="110000"/>
              </a:lnSpc>
              <a:buNone/>
            </a:pPr>
            <a:r>
              <a:rPr lang="en-US" sz="2000" b="1" dirty="0">
                <a:solidFill>
                  <a:srgbClr val="38BDF8"/>
                </a:solidFill>
                <a:latin typeface="Calibri" pitchFamily="34" charset="0"/>
                <a:ea typeface="Calibri" pitchFamily="34" charset="-122"/>
                <a:cs typeface="Calibri" pitchFamily="34" charset="-120"/>
              </a:rPr>
              <a:t>MCP server on Neo4j</a:t>
            </a:r>
            <a:pPr indent="0" marL="0">
              <a:lnSpc>
                <a:spcPct val="110000"/>
              </a:lnSpc>
              <a:buNone/>
            </a:pPr>
            <a:r>
              <a:rPr lang="en-US" sz="2000" dirty="0">
                <a:solidFill>
                  <a:srgbClr val="94A3B8"/>
                </a:solidFill>
                <a:latin typeface="Calibri" pitchFamily="34" charset="0"/>
                <a:ea typeface="Calibri" pitchFamily="34" charset="-122"/>
                <a:cs typeface="Calibri" pitchFamily="34" charset="-120"/>
              </a:rPr>
              <a:t> that lets any AI tool query your knowledge graph — in plain English.</a:t>
            </a:r>
            <a:endParaRPr lang="en-US" sz="2000" dirty="0"/>
          </a:p>
        </p:txBody>
      </p:sp>
      <p:sp>
        <p:nvSpPr>
          <p:cNvPr id="31" name="Text 29"/>
          <p:cNvSpPr/>
          <p:nvPr/>
        </p:nvSpPr>
        <p:spPr>
          <a:xfrm>
            <a:off x="640080" y="3383280"/>
            <a:ext cx="7315200" cy="411480"/>
          </a:xfrm>
          <a:prstGeom prst="rect">
            <a:avLst/>
          </a:prstGeom>
          <a:noFill/>
          <a:ln/>
        </p:spPr>
        <p:txBody>
          <a:bodyPr wrap="square" rtlCol="0" anchor="ctr"/>
          <a:lstStyle/>
          <a:p>
            <a:pPr indent="0" marL="0">
              <a:buNone/>
            </a:pPr>
            <a:r>
              <a:rPr lang="en-US" sz="1600" b="1" i="1" dirty="0">
                <a:solidFill>
                  <a:srgbClr val="2DD4BF"/>
                </a:solidFill>
                <a:latin typeface="Calibri" pitchFamily="34" charset="0"/>
                <a:ea typeface="Calibri" pitchFamily="34" charset="-122"/>
                <a:cs typeface="Calibri" pitchFamily="34" charset="-120"/>
              </a:rPr>
              <a:t>Natural language in.</a:t>
            </a:r>
            <a:pPr indent="0" marL="0">
              <a:buNone/>
            </a:pPr>
            <a:r>
              <a:rPr lang="en-US" sz="1600" b="1" i="1" dirty="0">
                <a:solidFill>
                  <a:srgbClr val="4ADE80"/>
                </a:solidFill>
                <a:latin typeface="Calibri" pitchFamily="34" charset="0"/>
                <a:ea typeface="Calibri" pitchFamily="34" charset="-122"/>
                <a:cs typeface="Calibri" pitchFamily="34" charset="-120"/>
              </a:rPr>
              <a:t>   Graph intelligence out.</a:t>
            </a:r>
            <a:endParaRPr lang="en-US" sz="1600" dirty="0"/>
          </a:p>
        </p:txBody>
      </p:sp>
      <p:sp>
        <p:nvSpPr>
          <p:cNvPr id="32" name="Shape 30"/>
          <p:cNvSpPr/>
          <p:nvPr/>
        </p:nvSpPr>
        <p:spPr>
          <a:xfrm>
            <a:off x="640080" y="3931920"/>
            <a:ext cx="2148840" cy="420624"/>
          </a:xfrm>
          <a:prstGeom prst="roundRect">
            <a:avLst>
              <a:gd name="adj" fmla="val 50000"/>
            </a:avLst>
          </a:prstGeom>
          <a:solidFill>
            <a:srgbClr val="162133"/>
          </a:solidFill>
          <a:ln w="12700">
            <a:solidFill>
              <a:srgbClr val="38BDF8"/>
            </a:solidFill>
            <a:prstDash val="solid"/>
          </a:ln>
        </p:spPr>
      </p:sp>
      <p:sp>
        <p:nvSpPr>
          <p:cNvPr id="33" name="Text 31"/>
          <p:cNvSpPr/>
          <p:nvPr/>
        </p:nvSpPr>
        <p:spPr>
          <a:xfrm>
            <a:off x="640080" y="3931920"/>
            <a:ext cx="2148840" cy="420624"/>
          </a:xfrm>
          <a:prstGeom prst="rect">
            <a:avLst/>
          </a:prstGeom>
          <a:noFill/>
          <a:ln/>
        </p:spPr>
        <p:txBody>
          <a:bodyPr wrap="square" lIns="0" tIns="0" rIns="0" bIns="0" rtlCol="0" anchor="ctr"/>
          <a:lstStyle/>
          <a:p>
            <a:pPr algn="ctr" indent="0" marL="0">
              <a:buNone/>
            </a:pPr>
            <a:r>
              <a:rPr lang="en-US" sz="1250" b="1" dirty="0">
                <a:solidFill>
                  <a:srgbClr val="F8FAFC"/>
                </a:solidFill>
                <a:latin typeface="Calibri" pitchFamily="34" charset="0"/>
                <a:ea typeface="Calibri" pitchFamily="34" charset="-122"/>
                <a:cs typeface="Calibri" pitchFamily="34" charset="-120"/>
              </a:rPr>
              <a:t>FastPath — no LLM</a:t>
            </a:r>
            <a:endParaRPr lang="en-US" sz="1250" dirty="0"/>
          </a:p>
        </p:txBody>
      </p:sp>
      <p:sp>
        <p:nvSpPr>
          <p:cNvPr id="34" name="Shape 32"/>
          <p:cNvSpPr/>
          <p:nvPr/>
        </p:nvSpPr>
        <p:spPr>
          <a:xfrm>
            <a:off x="2926080" y="3931920"/>
            <a:ext cx="1920240" cy="420624"/>
          </a:xfrm>
          <a:prstGeom prst="roundRect">
            <a:avLst>
              <a:gd name="adj" fmla="val 50000"/>
            </a:avLst>
          </a:prstGeom>
          <a:solidFill>
            <a:srgbClr val="162133"/>
          </a:solidFill>
          <a:ln w="12700">
            <a:solidFill>
              <a:srgbClr val="4ADE80"/>
            </a:solidFill>
            <a:prstDash val="solid"/>
          </a:ln>
        </p:spPr>
      </p:sp>
      <p:sp>
        <p:nvSpPr>
          <p:cNvPr id="35" name="Text 33"/>
          <p:cNvSpPr/>
          <p:nvPr/>
        </p:nvSpPr>
        <p:spPr>
          <a:xfrm>
            <a:off x="2926080" y="3931920"/>
            <a:ext cx="1920240" cy="420624"/>
          </a:xfrm>
          <a:prstGeom prst="rect">
            <a:avLst/>
          </a:prstGeom>
          <a:noFill/>
          <a:ln/>
        </p:spPr>
        <p:txBody>
          <a:bodyPr wrap="square" lIns="0" tIns="0" rIns="0" bIns="0" rtlCol="0" anchor="ctr"/>
          <a:lstStyle/>
          <a:p>
            <a:pPr algn="ctr" indent="0" marL="0">
              <a:buNone/>
            </a:pPr>
            <a:r>
              <a:rPr lang="en-US" sz="1250" b="1" dirty="0">
                <a:solidFill>
                  <a:srgbClr val="F8FAFC"/>
                </a:solidFill>
                <a:latin typeface="Calibri" pitchFamily="34" charset="0"/>
                <a:ea typeface="Calibri" pitchFamily="34" charset="-122"/>
                <a:cs typeface="Calibri" pitchFamily="34" charset="-120"/>
              </a:rPr>
              <a:t>Read-only by design</a:t>
            </a:r>
            <a:endParaRPr lang="en-US" sz="1250" dirty="0"/>
          </a:p>
        </p:txBody>
      </p:sp>
      <p:sp>
        <p:nvSpPr>
          <p:cNvPr id="36" name="Shape 34"/>
          <p:cNvSpPr/>
          <p:nvPr/>
        </p:nvSpPr>
        <p:spPr>
          <a:xfrm>
            <a:off x="4983480" y="3931920"/>
            <a:ext cx="1691640" cy="420624"/>
          </a:xfrm>
          <a:prstGeom prst="roundRect">
            <a:avLst>
              <a:gd name="adj" fmla="val 50000"/>
            </a:avLst>
          </a:prstGeom>
          <a:solidFill>
            <a:srgbClr val="162133"/>
          </a:solidFill>
          <a:ln w="12700">
            <a:solidFill>
              <a:srgbClr val="2DD4BF"/>
            </a:solidFill>
            <a:prstDash val="solid"/>
          </a:ln>
        </p:spPr>
      </p:sp>
      <p:sp>
        <p:nvSpPr>
          <p:cNvPr id="37" name="Text 35"/>
          <p:cNvSpPr/>
          <p:nvPr/>
        </p:nvSpPr>
        <p:spPr>
          <a:xfrm>
            <a:off x="4983480" y="3931920"/>
            <a:ext cx="1691640" cy="420624"/>
          </a:xfrm>
          <a:prstGeom prst="rect">
            <a:avLst/>
          </a:prstGeom>
          <a:noFill/>
          <a:ln/>
        </p:spPr>
        <p:txBody>
          <a:bodyPr wrap="square" lIns="0" tIns="0" rIns="0" bIns="0" rtlCol="0" anchor="ctr"/>
          <a:lstStyle/>
          <a:p>
            <a:pPr algn="ctr" indent="0" marL="0">
              <a:buNone/>
            </a:pPr>
            <a:r>
              <a:rPr lang="en-US" sz="1250" b="1" dirty="0">
                <a:solidFill>
                  <a:srgbClr val="F8FAFC"/>
                </a:solidFill>
                <a:latin typeface="Calibri" pitchFamily="34" charset="0"/>
                <a:ea typeface="Calibri" pitchFamily="34" charset="-122"/>
                <a:cs typeface="Calibri" pitchFamily="34" charset="-120"/>
              </a:rPr>
              <a:t>Runs in VS Code</a:t>
            </a:r>
            <a:endParaRPr lang="en-US" sz="1250" dirty="0"/>
          </a:p>
        </p:txBody>
      </p:sp>
      <p:sp>
        <p:nvSpPr>
          <p:cNvPr id="38" name="Text 36"/>
          <p:cNvSpPr/>
          <p:nvPr/>
        </p:nvSpPr>
        <p:spPr>
          <a:xfrm>
            <a:off x="640080" y="4553712"/>
            <a:ext cx="5486400" cy="320040"/>
          </a:xfrm>
          <a:prstGeom prst="rect">
            <a:avLst/>
          </a:prstGeom>
          <a:noFill/>
          <a:ln/>
        </p:spPr>
        <p:txBody>
          <a:bodyPr wrap="square" rtlCol="0" anchor="ctr"/>
          <a:lstStyle/>
          <a:p>
            <a:pPr indent="0" marL="0">
              <a:buNone/>
            </a:pPr>
            <a:r>
              <a:rPr lang="en-US" sz="1200" spc="200" kern="0" dirty="0">
                <a:solidFill>
                  <a:srgbClr val="64748B"/>
                </a:solidFill>
                <a:latin typeface="Arial" pitchFamily="34" charset="0"/>
                <a:ea typeface="Arial" pitchFamily="34" charset="-122"/>
                <a:cs typeface="Arial" pitchFamily="34" charset="-120"/>
              </a:rPr>
              <a:t>Hackathon Submission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1"/>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411480"/>
            <a:ext cx="7315200" cy="54864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The problem</a:t>
            </a:r>
            <a:endParaRPr lang="en-US" sz="3400" dirty="0"/>
          </a:p>
        </p:txBody>
      </p:sp>
      <p:sp>
        <p:nvSpPr>
          <p:cNvPr id="5" name="Text 3"/>
          <p:cNvSpPr/>
          <p:nvPr/>
        </p:nvSpPr>
        <p:spPr>
          <a:xfrm>
            <a:off x="548640" y="1024128"/>
            <a:ext cx="8229600" cy="457200"/>
          </a:xfrm>
          <a:prstGeom prst="rect">
            <a:avLst/>
          </a:prstGeom>
          <a:noFill/>
          <a:ln/>
        </p:spPr>
        <p:txBody>
          <a:bodyPr wrap="square" rtlCol="0" anchor="ctr"/>
          <a:lstStyle/>
          <a:p>
            <a:pPr indent="0" marL="0">
              <a:buNone/>
            </a:pPr>
            <a:r>
              <a:rPr lang="en-US" sz="1700" dirty="0">
                <a:solidFill>
                  <a:srgbClr val="94A3B8"/>
                </a:solidFill>
                <a:latin typeface="Calibri" pitchFamily="34" charset="0"/>
                <a:ea typeface="Calibri" pitchFamily="34" charset="-122"/>
                <a:cs typeface="Calibri" pitchFamily="34" charset="-120"/>
              </a:rPr>
              <a:t>Your richest data is relational — but it's trapped.</a:t>
            </a:r>
            <a:endParaRPr lang="en-US" sz="1700" dirty="0"/>
          </a:p>
        </p:txBody>
      </p:sp>
      <p:sp>
        <p:nvSpPr>
          <p:cNvPr id="6" name="Shape 4"/>
          <p:cNvSpPr/>
          <p:nvPr/>
        </p:nvSpPr>
        <p:spPr>
          <a:xfrm>
            <a:off x="548640" y="1783080"/>
            <a:ext cx="2615184" cy="2697480"/>
          </a:xfrm>
          <a:prstGeom prst="roundRect">
            <a:avLst>
              <a:gd name="adj" fmla="val 349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7" name="Shape 5"/>
          <p:cNvSpPr/>
          <p:nvPr/>
        </p:nvSpPr>
        <p:spPr>
          <a:xfrm>
            <a:off x="822960" y="2057400"/>
            <a:ext cx="713232" cy="713232"/>
          </a:xfrm>
          <a:prstGeom prst="ellipse">
            <a:avLst/>
          </a:prstGeom>
          <a:solidFill>
            <a:srgbClr val="0E1730"/>
          </a:solidFill>
          <a:ln w="12700">
            <a:solidFill>
              <a:srgbClr val="FBBF24">
                <a:alpha val="65000"/>
              </a:srgbClr>
            </a:solidFill>
            <a:prstDash val="solid"/>
          </a:ln>
        </p:spPr>
      </p:sp>
      <p:pic>
        <p:nvPicPr>
          <p:cNvPr id="8" name="Image 0" descr="preencoded.png">    </p:cNvPr>
          <p:cNvPicPr>
            <a:picLocks noChangeAspect="1"/>
          </p:cNvPicPr>
          <p:nvPr/>
        </p:nvPicPr>
        <p:blipFill>
          <a:blip r:embed="rId1"/>
          <a:stretch>
            <a:fillRect/>
          </a:stretch>
        </p:blipFill>
        <p:spPr>
          <a:xfrm>
            <a:off x="996696" y="2231136"/>
            <a:ext cx="365760" cy="365760"/>
          </a:xfrm>
          <a:prstGeom prst="rect">
            <a:avLst/>
          </a:prstGeom>
        </p:spPr>
      </p:pic>
      <p:sp>
        <p:nvSpPr>
          <p:cNvPr id="9" name="Text 6"/>
          <p:cNvSpPr/>
          <p:nvPr/>
        </p:nvSpPr>
        <p:spPr>
          <a:xfrm>
            <a:off x="822960" y="2926080"/>
            <a:ext cx="2121408" cy="457200"/>
          </a:xfrm>
          <a:prstGeom prst="rect">
            <a:avLst/>
          </a:prstGeom>
          <a:noFill/>
          <a:ln/>
        </p:spPr>
        <p:txBody>
          <a:bodyPr wrap="square" rtlCol="0" anchor="ctr"/>
          <a:lstStyle/>
          <a:p>
            <a:pPr indent="0" marL="0">
              <a:buNone/>
            </a:pPr>
            <a:r>
              <a:rPr lang="en-US" sz="1700" b="1" dirty="0">
                <a:solidFill>
                  <a:srgbClr val="F8FAFC"/>
                </a:solidFill>
                <a:latin typeface="Arial" pitchFamily="34" charset="0"/>
                <a:ea typeface="Arial" pitchFamily="34" charset="-122"/>
                <a:cs typeface="Arial" pitchFamily="34" charset="-120"/>
              </a:rPr>
              <a:t>Locked in the graph</a:t>
            </a:r>
            <a:endParaRPr lang="en-US" sz="1700" dirty="0"/>
          </a:p>
        </p:txBody>
      </p:sp>
      <p:sp>
        <p:nvSpPr>
          <p:cNvPr id="10" name="Text 7"/>
          <p:cNvSpPr/>
          <p:nvPr/>
        </p:nvSpPr>
        <p:spPr>
          <a:xfrm>
            <a:off x="822960" y="3401568"/>
            <a:ext cx="2121408" cy="96012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Org structure, skills, reporting lines, and collaboration live in graph databases only specialists can reach.</a:t>
            </a:r>
            <a:endParaRPr lang="en-US" sz="1250" dirty="0"/>
          </a:p>
        </p:txBody>
      </p:sp>
      <p:sp>
        <p:nvSpPr>
          <p:cNvPr id="11" name="Shape 8"/>
          <p:cNvSpPr/>
          <p:nvPr/>
        </p:nvSpPr>
        <p:spPr>
          <a:xfrm>
            <a:off x="3346704" y="1783080"/>
            <a:ext cx="2615184" cy="2697480"/>
          </a:xfrm>
          <a:prstGeom prst="roundRect">
            <a:avLst>
              <a:gd name="adj" fmla="val 349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2" name="Shape 9"/>
          <p:cNvSpPr/>
          <p:nvPr/>
        </p:nvSpPr>
        <p:spPr>
          <a:xfrm>
            <a:off x="3621024" y="2057400"/>
            <a:ext cx="713232" cy="713232"/>
          </a:xfrm>
          <a:prstGeom prst="ellipse">
            <a:avLst/>
          </a:prstGeom>
          <a:solidFill>
            <a:srgbClr val="0E1730"/>
          </a:solidFill>
          <a:ln w="12700">
            <a:solidFill>
              <a:srgbClr val="38BDF8">
                <a:alpha val="65000"/>
              </a:srgbClr>
            </a:solidFill>
            <a:prstDash val="solid"/>
          </a:ln>
        </p:spPr>
      </p:sp>
      <p:pic>
        <p:nvPicPr>
          <p:cNvPr id="13" name="Image 1" descr="preencoded.png">    </p:cNvPr>
          <p:cNvPicPr>
            <a:picLocks noChangeAspect="1"/>
          </p:cNvPicPr>
          <p:nvPr/>
        </p:nvPicPr>
        <p:blipFill>
          <a:blip r:embed="rId2"/>
          <a:stretch>
            <a:fillRect/>
          </a:stretch>
        </p:blipFill>
        <p:spPr>
          <a:xfrm>
            <a:off x="3794760" y="2231136"/>
            <a:ext cx="365760" cy="365760"/>
          </a:xfrm>
          <a:prstGeom prst="rect">
            <a:avLst/>
          </a:prstGeom>
        </p:spPr>
      </p:pic>
      <p:sp>
        <p:nvSpPr>
          <p:cNvPr id="14" name="Text 10"/>
          <p:cNvSpPr/>
          <p:nvPr/>
        </p:nvSpPr>
        <p:spPr>
          <a:xfrm>
            <a:off x="3621024" y="2926080"/>
            <a:ext cx="2121408" cy="457200"/>
          </a:xfrm>
          <a:prstGeom prst="rect">
            <a:avLst/>
          </a:prstGeom>
          <a:noFill/>
          <a:ln/>
        </p:spPr>
        <p:txBody>
          <a:bodyPr wrap="square" rtlCol="0" anchor="ctr"/>
          <a:lstStyle/>
          <a:p>
            <a:pPr indent="0" marL="0">
              <a:buNone/>
            </a:pPr>
            <a:r>
              <a:rPr lang="en-US" sz="1700" b="1" dirty="0">
                <a:solidFill>
                  <a:srgbClr val="F8FAFC"/>
                </a:solidFill>
                <a:latin typeface="Arial" pitchFamily="34" charset="0"/>
                <a:ea typeface="Arial" pitchFamily="34" charset="-122"/>
                <a:cs typeface="Arial" pitchFamily="34" charset="-120"/>
              </a:rPr>
              <a:t>Cypher is a wall</a:t>
            </a:r>
            <a:endParaRPr lang="en-US" sz="1700" dirty="0"/>
          </a:p>
        </p:txBody>
      </p:sp>
      <p:sp>
        <p:nvSpPr>
          <p:cNvPr id="15" name="Text 11"/>
          <p:cNvSpPr/>
          <p:nvPr/>
        </p:nvSpPr>
        <p:spPr>
          <a:xfrm>
            <a:off x="3621024" y="3401568"/>
            <a:ext cx="2121408" cy="96012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Answering 'who is my manager's manager's manager?' means hand-writing graph queries. Business users can't.</a:t>
            </a:r>
            <a:endParaRPr lang="en-US" sz="1250" dirty="0"/>
          </a:p>
        </p:txBody>
      </p:sp>
      <p:sp>
        <p:nvSpPr>
          <p:cNvPr id="16" name="Shape 12"/>
          <p:cNvSpPr/>
          <p:nvPr/>
        </p:nvSpPr>
        <p:spPr>
          <a:xfrm>
            <a:off x="6144768" y="1783080"/>
            <a:ext cx="2615184" cy="2697480"/>
          </a:xfrm>
          <a:prstGeom prst="roundRect">
            <a:avLst>
              <a:gd name="adj" fmla="val 349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7" name="Shape 13"/>
          <p:cNvSpPr/>
          <p:nvPr/>
        </p:nvSpPr>
        <p:spPr>
          <a:xfrm>
            <a:off x="6419088" y="2057400"/>
            <a:ext cx="713232" cy="713232"/>
          </a:xfrm>
          <a:prstGeom prst="ellipse">
            <a:avLst/>
          </a:prstGeom>
          <a:solidFill>
            <a:srgbClr val="0E1730"/>
          </a:solidFill>
          <a:ln w="12700">
            <a:solidFill>
              <a:srgbClr val="2DD4BF">
                <a:alpha val="65000"/>
              </a:srgbClr>
            </a:solidFill>
            <a:prstDash val="solid"/>
          </a:ln>
        </p:spPr>
      </p:sp>
      <p:pic>
        <p:nvPicPr>
          <p:cNvPr id="18" name="Image 2" descr="preencoded.png">    </p:cNvPr>
          <p:cNvPicPr>
            <a:picLocks noChangeAspect="1"/>
          </p:cNvPicPr>
          <p:nvPr/>
        </p:nvPicPr>
        <p:blipFill>
          <a:blip r:embed="rId3"/>
          <a:stretch>
            <a:fillRect/>
          </a:stretch>
        </p:blipFill>
        <p:spPr>
          <a:xfrm>
            <a:off x="6592824" y="2231136"/>
            <a:ext cx="365760" cy="365760"/>
          </a:xfrm>
          <a:prstGeom prst="rect">
            <a:avLst/>
          </a:prstGeom>
        </p:spPr>
      </p:pic>
      <p:sp>
        <p:nvSpPr>
          <p:cNvPr id="19" name="Text 14"/>
          <p:cNvSpPr/>
          <p:nvPr/>
        </p:nvSpPr>
        <p:spPr>
          <a:xfrm>
            <a:off x="6419088" y="2926080"/>
            <a:ext cx="2121408" cy="457200"/>
          </a:xfrm>
          <a:prstGeom prst="rect">
            <a:avLst/>
          </a:prstGeom>
          <a:noFill/>
          <a:ln/>
        </p:spPr>
        <p:txBody>
          <a:bodyPr wrap="square" rtlCol="0" anchor="ctr"/>
          <a:lstStyle/>
          <a:p>
            <a:pPr indent="0" marL="0">
              <a:buNone/>
            </a:pPr>
            <a:r>
              <a:rPr lang="en-US" sz="1700" b="1" dirty="0">
                <a:solidFill>
                  <a:srgbClr val="F8FAFC"/>
                </a:solidFill>
                <a:latin typeface="Arial" pitchFamily="34" charset="0"/>
                <a:ea typeface="Arial" pitchFamily="34" charset="-122"/>
                <a:cs typeface="Arial" pitchFamily="34" charset="-120"/>
              </a:rPr>
              <a:t>AI can't plug in safely</a:t>
            </a:r>
            <a:endParaRPr lang="en-US" sz="1700" dirty="0"/>
          </a:p>
        </p:txBody>
      </p:sp>
      <p:sp>
        <p:nvSpPr>
          <p:cNvPr id="20" name="Text 15"/>
          <p:cNvSpPr/>
          <p:nvPr/>
        </p:nvSpPr>
        <p:spPr>
          <a:xfrm>
            <a:off x="6419088" y="3401568"/>
            <a:ext cx="2121408" cy="96012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Every AI tool needs bespoke, brittle glue — and giving an LLM raw DB access risks your data.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Shape 2"/>
          <p:cNvSpPr/>
          <p:nvPr/>
        </p:nvSpPr>
        <p:spPr>
          <a:xfrm>
            <a:off x="6992874" y="3152394"/>
            <a:ext cx="955548" cy="347472"/>
          </a:xfrm>
          <a:prstGeom prst="line">
            <a:avLst/>
          </a:prstGeom>
          <a:noFill/>
          <a:ln w="15875">
            <a:solidFill>
              <a:srgbClr val="2DD4BF">
                <a:alpha val="45000"/>
              </a:srgbClr>
            </a:solidFill>
            <a:prstDash val="solid"/>
          </a:ln>
        </p:spPr>
      </p:sp>
      <p:sp>
        <p:nvSpPr>
          <p:cNvPr id="5" name="Shape 3"/>
          <p:cNvSpPr/>
          <p:nvPr/>
        </p:nvSpPr>
        <p:spPr>
          <a:xfrm>
            <a:off x="6992874" y="3152394"/>
            <a:ext cx="521208" cy="1042416"/>
          </a:xfrm>
          <a:prstGeom prst="line">
            <a:avLst/>
          </a:prstGeom>
          <a:noFill/>
          <a:ln w="15875">
            <a:solidFill>
              <a:srgbClr val="2DD4BF">
                <a:alpha val="45000"/>
              </a:srgbClr>
            </a:solidFill>
            <a:prstDash val="solid"/>
          </a:ln>
        </p:spPr>
      </p:sp>
      <p:sp>
        <p:nvSpPr>
          <p:cNvPr id="6" name="Shape 4"/>
          <p:cNvSpPr/>
          <p:nvPr/>
        </p:nvSpPr>
        <p:spPr>
          <a:xfrm>
            <a:off x="7948422" y="3499866"/>
            <a:ext cx="608076" cy="781812"/>
          </a:xfrm>
          <a:prstGeom prst="line">
            <a:avLst/>
          </a:prstGeom>
          <a:noFill/>
          <a:ln w="15875">
            <a:solidFill>
              <a:srgbClr val="2DD4BF">
                <a:alpha val="45000"/>
              </a:srgbClr>
            </a:solidFill>
            <a:prstDash val="solid"/>
          </a:ln>
        </p:spPr>
      </p:sp>
      <p:sp>
        <p:nvSpPr>
          <p:cNvPr id="7" name="Shape 5"/>
          <p:cNvSpPr/>
          <p:nvPr/>
        </p:nvSpPr>
        <p:spPr>
          <a:xfrm>
            <a:off x="7948422" y="3499866"/>
            <a:ext cx="955548" cy="-173736"/>
          </a:xfrm>
          <a:prstGeom prst="line">
            <a:avLst/>
          </a:prstGeom>
          <a:noFill/>
          <a:ln w="15875">
            <a:solidFill>
              <a:srgbClr val="2DD4BF">
                <a:alpha val="45000"/>
              </a:srgbClr>
            </a:solidFill>
            <a:prstDash val="solid"/>
          </a:ln>
        </p:spPr>
      </p:sp>
      <p:sp>
        <p:nvSpPr>
          <p:cNvPr id="8" name="Shape 6"/>
          <p:cNvSpPr/>
          <p:nvPr/>
        </p:nvSpPr>
        <p:spPr>
          <a:xfrm>
            <a:off x="7514082" y="4194810"/>
            <a:ext cx="1042416" cy="86868"/>
          </a:xfrm>
          <a:prstGeom prst="line">
            <a:avLst/>
          </a:prstGeom>
          <a:noFill/>
          <a:ln w="15875">
            <a:solidFill>
              <a:srgbClr val="2DD4BF">
                <a:alpha val="45000"/>
              </a:srgbClr>
            </a:solidFill>
            <a:prstDash val="solid"/>
          </a:ln>
        </p:spPr>
      </p:sp>
      <p:sp>
        <p:nvSpPr>
          <p:cNvPr id="9" name="Shape 7"/>
          <p:cNvSpPr/>
          <p:nvPr/>
        </p:nvSpPr>
        <p:spPr>
          <a:xfrm>
            <a:off x="7514082" y="4194810"/>
            <a:ext cx="694944" cy="781812"/>
          </a:xfrm>
          <a:prstGeom prst="line">
            <a:avLst/>
          </a:prstGeom>
          <a:noFill/>
          <a:ln w="15875">
            <a:solidFill>
              <a:srgbClr val="2DD4BF">
                <a:alpha val="45000"/>
              </a:srgbClr>
            </a:solidFill>
            <a:prstDash val="solid"/>
          </a:ln>
        </p:spPr>
      </p:sp>
      <p:sp>
        <p:nvSpPr>
          <p:cNvPr id="10" name="Shape 8"/>
          <p:cNvSpPr/>
          <p:nvPr/>
        </p:nvSpPr>
        <p:spPr>
          <a:xfrm>
            <a:off x="8556498" y="4281678"/>
            <a:ext cx="-347472" cy="694944"/>
          </a:xfrm>
          <a:prstGeom prst="line">
            <a:avLst/>
          </a:prstGeom>
          <a:noFill/>
          <a:ln w="15875">
            <a:solidFill>
              <a:srgbClr val="2DD4BF">
                <a:alpha val="45000"/>
              </a:srgbClr>
            </a:solidFill>
            <a:prstDash val="solid"/>
          </a:ln>
        </p:spPr>
      </p:sp>
      <p:sp>
        <p:nvSpPr>
          <p:cNvPr id="11" name="Shape 9"/>
          <p:cNvSpPr/>
          <p:nvPr/>
        </p:nvSpPr>
        <p:spPr>
          <a:xfrm>
            <a:off x="6949440" y="3108960"/>
            <a:ext cx="173736" cy="173736"/>
          </a:xfrm>
          <a:prstGeom prst="ellipse">
            <a:avLst/>
          </a:prstGeom>
          <a:solidFill>
            <a:srgbClr val="2DD4BF">
              <a:alpha val="85000"/>
            </a:srgbClr>
          </a:solidFill>
          <a:ln w="6350">
            <a:solidFill>
              <a:srgbClr val="F8FAFC">
                <a:alpha val="40000"/>
              </a:srgbClr>
            </a:solidFill>
            <a:prstDash val="solid"/>
          </a:ln>
        </p:spPr>
      </p:sp>
      <p:sp>
        <p:nvSpPr>
          <p:cNvPr id="12" name="Shape 10"/>
          <p:cNvSpPr/>
          <p:nvPr/>
        </p:nvSpPr>
        <p:spPr>
          <a:xfrm>
            <a:off x="7904988" y="3456432"/>
            <a:ext cx="112928" cy="112928"/>
          </a:xfrm>
          <a:prstGeom prst="ellipse">
            <a:avLst/>
          </a:prstGeom>
          <a:solidFill>
            <a:srgbClr val="38BDF8">
              <a:alpha val="85000"/>
            </a:srgbClr>
          </a:solidFill>
          <a:ln w="6350">
            <a:solidFill>
              <a:srgbClr val="F8FAFC">
                <a:alpha val="40000"/>
              </a:srgbClr>
            </a:solidFill>
            <a:prstDash val="solid"/>
          </a:ln>
        </p:spPr>
      </p:sp>
      <p:sp>
        <p:nvSpPr>
          <p:cNvPr id="13" name="Shape 11"/>
          <p:cNvSpPr/>
          <p:nvPr/>
        </p:nvSpPr>
        <p:spPr>
          <a:xfrm>
            <a:off x="7470648" y="4151376"/>
            <a:ext cx="112928" cy="112928"/>
          </a:xfrm>
          <a:prstGeom prst="ellipse">
            <a:avLst/>
          </a:prstGeom>
          <a:solidFill>
            <a:srgbClr val="4ADE80">
              <a:alpha val="85000"/>
            </a:srgbClr>
          </a:solidFill>
          <a:ln w="6350">
            <a:solidFill>
              <a:srgbClr val="F8FAFC">
                <a:alpha val="40000"/>
              </a:srgbClr>
            </a:solidFill>
            <a:prstDash val="solid"/>
          </a:ln>
        </p:spPr>
      </p:sp>
      <p:sp>
        <p:nvSpPr>
          <p:cNvPr id="14" name="Shape 12"/>
          <p:cNvSpPr/>
          <p:nvPr/>
        </p:nvSpPr>
        <p:spPr>
          <a:xfrm>
            <a:off x="8513064" y="4238244"/>
            <a:ext cx="173736" cy="173736"/>
          </a:xfrm>
          <a:prstGeom prst="ellipse">
            <a:avLst/>
          </a:prstGeom>
          <a:solidFill>
            <a:srgbClr val="2DD4BF">
              <a:alpha val="85000"/>
            </a:srgbClr>
          </a:solidFill>
          <a:ln w="6350">
            <a:solidFill>
              <a:srgbClr val="F8FAFC">
                <a:alpha val="40000"/>
              </a:srgbClr>
            </a:solidFill>
            <a:prstDash val="solid"/>
          </a:ln>
        </p:spPr>
      </p:sp>
      <p:sp>
        <p:nvSpPr>
          <p:cNvPr id="15" name="Shape 13"/>
          <p:cNvSpPr/>
          <p:nvPr/>
        </p:nvSpPr>
        <p:spPr>
          <a:xfrm>
            <a:off x="8860536" y="3282696"/>
            <a:ext cx="112928" cy="112928"/>
          </a:xfrm>
          <a:prstGeom prst="ellipse">
            <a:avLst/>
          </a:prstGeom>
          <a:solidFill>
            <a:srgbClr val="38BDF8">
              <a:alpha val="85000"/>
            </a:srgbClr>
          </a:solidFill>
          <a:ln w="6350">
            <a:solidFill>
              <a:srgbClr val="F8FAFC">
                <a:alpha val="40000"/>
              </a:srgbClr>
            </a:solidFill>
            <a:prstDash val="solid"/>
          </a:ln>
        </p:spPr>
      </p:sp>
      <p:sp>
        <p:nvSpPr>
          <p:cNvPr id="16" name="Shape 14"/>
          <p:cNvSpPr/>
          <p:nvPr/>
        </p:nvSpPr>
        <p:spPr>
          <a:xfrm>
            <a:off x="8165592" y="4933188"/>
            <a:ext cx="112928" cy="112928"/>
          </a:xfrm>
          <a:prstGeom prst="ellipse">
            <a:avLst/>
          </a:prstGeom>
          <a:solidFill>
            <a:srgbClr val="4ADE80">
              <a:alpha val="85000"/>
            </a:srgbClr>
          </a:solidFill>
          <a:ln w="6350">
            <a:solidFill>
              <a:srgbClr val="F8FAFC">
                <a:alpha val="40000"/>
              </a:srgbClr>
            </a:solidFill>
            <a:prstDash val="solid"/>
          </a:ln>
        </p:spPr>
      </p:sp>
      <p:sp>
        <p:nvSpPr>
          <p:cNvPr id="17" name="Text 15"/>
          <p:cNvSpPr/>
          <p:nvPr/>
        </p:nvSpPr>
        <p:spPr>
          <a:xfrm>
            <a:off x="548640" y="411480"/>
            <a:ext cx="7315200" cy="54864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The solution</a:t>
            </a:r>
            <a:endParaRPr lang="en-US" sz="3400" dirty="0"/>
          </a:p>
        </p:txBody>
      </p:sp>
      <p:sp>
        <p:nvSpPr>
          <p:cNvPr id="18" name="Text 16"/>
          <p:cNvSpPr/>
          <p:nvPr/>
        </p:nvSpPr>
        <p:spPr>
          <a:xfrm>
            <a:off x="548640" y="1051560"/>
            <a:ext cx="7955280" cy="822960"/>
          </a:xfrm>
          <a:prstGeom prst="rect">
            <a:avLst/>
          </a:prstGeom>
          <a:noFill/>
          <a:ln/>
        </p:spPr>
        <p:txBody>
          <a:bodyPr wrap="square" rtlCol="0" anchor="ctr"/>
          <a:lstStyle/>
          <a:p>
            <a:pPr indent="0" marL="0">
              <a:lnSpc>
                <a:spcPct val="110000"/>
              </a:lnSpc>
              <a:buNone/>
            </a:pPr>
            <a:r>
              <a:rPr lang="en-US" sz="2000" b="1" dirty="0">
                <a:solidFill>
                  <a:srgbClr val="2DD4BF"/>
                </a:solidFill>
                <a:latin typeface="Calibri" pitchFamily="34" charset="0"/>
                <a:ea typeface="Calibri" pitchFamily="34" charset="-122"/>
                <a:cs typeface="Calibri" pitchFamily="34" charset="-120"/>
              </a:rPr>
              <a:t>Graph Mind</a:t>
            </a:r>
            <a:pPr indent="0" marL="0">
              <a:lnSpc>
                <a:spcPct val="110000"/>
              </a:lnSpc>
              <a:buNone/>
            </a:pPr>
            <a:r>
              <a:rPr lang="en-US" sz="2000" dirty="0">
                <a:solidFill>
                  <a:srgbClr val="F8FAFC"/>
                </a:solidFill>
                <a:latin typeface="Calibri" pitchFamily="34" charset="0"/>
                <a:ea typeface="Calibri" pitchFamily="34" charset="-122"/>
                <a:cs typeface="Calibri" pitchFamily="34" charset="-120"/>
              </a:rPr>
              <a:t> is an MCP server on Neo4j that turns natural language into safe graph answers.</a:t>
            </a:r>
            <a:endParaRPr lang="en-US" sz="2000" dirty="0"/>
          </a:p>
        </p:txBody>
      </p:sp>
      <p:sp>
        <p:nvSpPr>
          <p:cNvPr id="19" name="Shape 17"/>
          <p:cNvSpPr/>
          <p:nvPr/>
        </p:nvSpPr>
        <p:spPr>
          <a:xfrm>
            <a:off x="548640" y="2148840"/>
            <a:ext cx="2615184" cy="2240280"/>
          </a:xfrm>
          <a:prstGeom prst="roundRect">
            <a:avLst>
              <a:gd name="adj" fmla="val 4082"/>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0" name="Shape 18"/>
          <p:cNvSpPr/>
          <p:nvPr/>
        </p:nvSpPr>
        <p:spPr>
          <a:xfrm>
            <a:off x="822960" y="2395728"/>
            <a:ext cx="658368" cy="658368"/>
          </a:xfrm>
          <a:prstGeom prst="ellipse">
            <a:avLst/>
          </a:prstGeom>
          <a:solidFill>
            <a:srgbClr val="2DD4BF"/>
          </a:solidFill>
          <a:ln/>
        </p:spPr>
      </p:sp>
      <p:pic>
        <p:nvPicPr>
          <p:cNvPr id="21" name="Image 0" descr="preencoded.png">    </p:cNvPr>
          <p:cNvPicPr>
            <a:picLocks noChangeAspect="1"/>
          </p:cNvPicPr>
          <p:nvPr/>
        </p:nvPicPr>
        <p:blipFill>
          <a:blip r:embed="rId1"/>
          <a:stretch>
            <a:fillRect/>
          </a:stretch>
        </p:blipFill>
        <p:spPr>
          <a:xfrm>
            <a:off x="978408" y="2551176"/>
            <a:ext cx="347472" cy="347472"/>
          </a:xfrm>
          <a:prstGeom prst="rect">
            <a:avLst/>
          </a:prstGeom>
        </p:spPr>
      </p:pic>
      <p:sp>
        <p:nvSpPr>
          <p:cNvPr id="22" name="Text 19"/>
          <p:cNvSpPr/>
          <p:nvPr/>
        </p:nvSpPr>
        <p:spPr>
          <a:xfrm>
            <a:off x="822960" y="3154680"/>
            <a:ext cx="2121408" cy="36576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Ask in plain English</a:t>
            </a:r>
            <a:endParaRPr lang="en-US" sz="1600" dirty="0"/>
          </a:p>
        </p:txBody>
      </p:sp>
      <p:sp>
        <p:nvSpPr>
          <p:cNvPr id="23" name="Text 20"/>
          <p:cNvSpPr/>
          <p:nvPr/>
        </p:nvSpPr>
        <p:spPr>
          <a:xfrm>
            <a:off x="822960" y="3529584"/>
            <a:ext cx="2121408" cy="82296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No Cypher. FastPath turns common questions straight into graph queries — no LLM needed.</a:t>
            </a:r>
            <a:endParaRPr lang="en-US" sz="1250" dirty="0"/>
          </a:p>
        </p:txBody>
      </p:sp>
      <p:sp>
        <p:nvSpPr>
          <p:cNvPr id="24" name="Shape 21"/>
          <p:cNvSpPr/>
          <p:nvPr/>
        </p:nvSpPr>
        <p:spPr>
          <a:xfrm>
            <a:off x="3346704" y="2148840"/>
            <a:ext cx="2615184" cy="2240280"/>
          </a:xfrm>
          <a:prstGeom prst="roundRect">
            <a:avLst>
              <a:gd name="adj" fmla="val 4082"/>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5" name="Shape 22"/>
          <p:cNvSpPr/>
          <p:nvPr/>
        </p:nvSpPr>
        <p:spPr>
          <a:xfrm>
            <a:off x="3621024" y="2395728"/>
            <a:ext cx="658368" cy="658368"/>
          </a:xfrm>
          <a:prstGeom prst="ellipse">
            <a:avLst/>
          </a:prstGeom>
          <a:solidFill>
            <a:srgbClr val="2DD4BF"/>
          </a:solidFill>
          <a:ln/>
        </p:spPr>
      </p:sp>
      <p:pic>
        <p:nvPicPr>
          <p:cNvPr id="26" name="Image 1" descr="preencoded.png">    </p:cNvPr>
          <p:cNvPicPr>
            <a:picLocks noChangeAspect="1"/>
          </p:cNvPicPr>
          <p:nvPr/>
        </p:nvPicPr>
        <p:blipFill>
          <a:blip r:embed="rId2"/>
          <a:stretch>
            <a:fillRect/>
          </a:stretch>
        </p:blipFill>
        <p:spPr>
          <a:xfrm>
            <a:off x="3776472" y="2551176"/>
            <a:ext cx="347472" cy="347472"/>
          </a:xfrm>
          <a:prstGeom prst="rect">
            <a:avLst/>
          </a:prstGeom>
        </p:spPr>
      </p:pic>
      <p:sp>
        <p:nvSpPr>
          <p:cNvPr id="27" name="Text 23"/>
          <p:cNvSpPr/>
          <p:nvPr/>
        </p:nvSpPr>
        <p:spPr>
          <a:xfrm>
            <a:off x="3621024" y="3154680"/>
            <a:ext cx="2121408" cy="36576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Plugs into your tools</a:t>
            </a:r>
            <a:endParaRPr lang="en-US" sz="1600" dirty="0"/>
          </a:p>
        </p:txBody>
      </p:sp>
      <p:sp>
        <p:nvSpPr>
          <p:cNvPr id="28" name="Text 24"/>
          <p:cNvSpPr/>
          <p:nvPr/>
        </p:nvSpPr>
        <p:spPr>
          <a:xfrm>
            <a:off x="3621024" y="3529584"/>
            <a:ext cx="2121408" cy="82296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Live in VS Code and any MCP AI tool, plus our own graph UI — all over HTTP.</a:t>
            </a:r>
            <a:endParaRPr lang="en-US" sz="1250" dirty="0"/>
          </a:p>
        </p:txBody>
      </p:sp>
      <p:sp>
        <p:nvSpPr>
          <p:cNvPr id="29" name="Shape 25"/>
          <p:cNvSpPr/>
          <p:nvPr/>
        </p:nvSpPr>
        <p:spPr>
          <a:xfrm>
            <a:off x="6144768" y="2148840"/>
            <a:ext cx="2615184" cy="2240280"/>
          </a:xfrm>
          <a:prstGeom prst="roundRect">
            <a:avLst>
              <a:gd name="adj" fmla="val 4082"/>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30" name="Shape 26"/>
          <p:cNvSpPr/>
          <p:nvPr/>
        </p:nvSpPr>
        <p:spPr>
          <a:xfrm>
            <a:off x="6419088" y="2395728"/>
            <a:ext cx="658368" cy="658368"/>
          </a:xfrm>
          <a:prstGeom prst="ellipse">
            <a:avLst/>
          </a:prstGeom>
          <a:solidFill>
            <a:srgbClr val="2DD4BF"/>
          </a:solidFill>
          <a:ln/>
        </p:spPr>
      </p:sp>
      <p:pic>
        <p:nvPicPr>
          <p:cNvPr id="31" name="Image 2" descr="preencoded.png">    </p:cNvPr>
          <p:cNvPicPr>
            <a:picLocks noChangeAspect="1"/>
          </p:cNvPicPr>
          <p:nvPr/>
        </p:nvPicPr>
        <p:blipFill>
          <a:blip r:embed="rId3"/>
          <a:stretch>
            <a:fillRect/>
          </a:stretch>
        </p:blipFill>
        <p:spPr>
          <a:xfrm>
            <a:off x="6574536" y="2551176"/>
            <a:ext cx="347472" cy="347472"/>
          </a:xfrm>
          <a:prstGeom prst="rect">
            <a:avLst/>
          </a:prstGeom>
        </p:spPr>
      </p:pic>
      <p:sp>
        <p:nvSpPr>
          <p:cNvPr id="32" name="Text 27"/>
          <p:cNvSpPr/>
          <p:nvPr/>
        </p:nvSpPr>
        <p:spPr>
          <a:xfrm>
            <a:off x="6419088" y="3154680"/>
            <a:ext cx="2121408" cy="36576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Safe &amp; transparent</a:t>
            </a:r>
            <a:endParaRPr lang="en-US" sz="1600" dirty="0"/>
          </a:p>
        </p:txBody>
      </p:sp>
      <p:sp>
        <p:nvSpPr>
          <p:cNvPr id="33" name="Text 28"/>
          <p:cNvSpPr/>
          <p:nvPr/>
        </p:nvSpPr>
        <p:spPr>
          <a:xfrm>
            <a:off x="6419088" y="3529584"/>
            <a:ext cx="2121408" cy="82296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Read-only by design; every answer shows the exact Cypher it ran.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1"/>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365760"/>
            <a:ext cx="7315200" cy="54864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How it works</a:t>
            </a:r>
            <a:endParaRPr lang="en-US" sz="3400" dirty="0"/>
          </a:p>
        </p:txBody>
      </p:sp>
      <p:sp>
        <p:nvSpPr>
          <p:cNvPr id="5" name="Text 3"/>
          <p:cNvSpPr/>
          <p:nvPr/>
        </p:nvSpPr>
        <p:spPr>
          <a:xfrm>
            <a:off x="548640" y="969264"/>
            <a:ext cx="8229600" cy="365760"/>
          </a:xfrm>
          <a:prstGeom prst="rect">
            <a:avLst/>
          </a:prstGeom>
          <a:noFill/>
          <a:ln/>
        </p:spPr>
        <p:txBody>
          <a:bodyPr wrap="square" rtlCol="0" anchor="ctr"/>
          <a:lstStyle/>
          <a:p>
            <a:pPr indent="0" marL="0">
              <a:buNone/>
            </a:pPr>
            <a:r>
              <a:rPr lang="en-US" sz="1450" dirty="0">
                <a:solidFill>
                  <a:srgbClr val="94A3B8"/>
                </a:solidFill>
                <a:latin typeface="Calibri" pitchFamily="34" charset="0"/>
                <a:ea typeface="Calibri" pitchFamily="34" charset="-122"/>
                <a:cs typeface="Calibri" pitchFamily="34" charset="-120"/>
              </a:rPr>
              <a:t>Everything talks HTTP. Graph Mind does the translation — and the guarding — in the middle.</a:t>
            </a:r>
            <a:endParaRPr lang="en-US" sz="1450" dirty="0"/>
          </a:p>
        </p:txBody>
      </p:sp>
      <p:sp>
        <p:nvSpPr>
          <p:cNvPr id="6" name="Text 4"/>
          <p:cNvSpPr/>
          <p:nvPr/>
        </p:nvSpPr>
        <p:spPr>
          <a:xfrm>
            <a:off x="457200" y="1417320"/>
            <a:ext cx="2286000" cy="274320"/>
          </a:xfrm>
          <a:prstGeom prst="rect">
            <a:avLst/>
          </a:prstGeom>
          <a:noFill/>
          <a:ln/>
        </p:spPr>
        <p:txBody>
          <a:bodyPr wrap="square" rtlCol="0" anchor="ctr"/>
          <a:lstStyle/>
          <a:p>
            <a:pPr indent="0" marL="0">
              <a:buNone/>
            </a:pPr>
            <a:r>
              <a:rPr lang="en-US" sz="1000" b="1" spc="200" kern="0" dirty="0">
                <a:solidFill>
                  <a:srgbClr val="64748B"/>
                </a:solidFill>
                <a:latin typeface="Arial" pitchFamily="34" charset="0"/>
                <a:ea typeface="Arial" pitchFamily="34" charset="-122"/>
                <a:cs typeface="Arial" pitchFamily="34" charset="-120"/>
              </a:rPr>
              <a:t>CONSUMERS</a:t>
            </a:r>
            <a:endParaRPr lang="en-US" sz="1000" dirty="0"/>
          </a:p>
        </p:txBody>
      </p:sp>
      <p:sp>
        <p:nvSpPr>
          <p:cNvPr id="7" name="Shape 5"/>
          <p:cNvSpPr/>
          <p:nvPr/>
        </p:nvSpPr>
        <p:spPr>
          <a:xfrm>
            <a:off x="457200" y="1691640"/>
            <a:ext cx="2103120" cy="822960"/>
          </a:xfrm>
          <a:prstGeom prst="roundRect">
            <a:avLst>
              <a:gd name="adj" fmla="val 8889"/>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8" name="Shape 6"/>
          <p:cNvSpPr/>
          <p:nvPr/>
        </p:nvSpPr>
        <p:spPr>
          <a:xfrm>
            <a:off x="640080" y="1892808"/>
            <a:ext cx="420624" cy="420624"/>
          </a:xfrm>
          <a:prstGeom prst="ellipse">
            <a:avLst/>
          </a:prstGeom>
          <a:solidFill>
            <a:srgbClr val="0E1730"/>
          </a:solidFill>
          <a:ln w="12700">
            <a:solidFill>
              <a:srgbClr val="38BDF8">
                <a:alpha val="60000"/>
              </a:srgbClr>
            </a:solidFill>
            <a:prstDash val="solid"/>
          </a:ln>
        </p:spPr>
      </p:sp>
      <p:pic>
        <p:nvPicPr>
          <p:cNvPr id="9" name="Image 0" descr="preencoded.png">    </p:cNvPr>
          <p:cNvPicPr>
            <a:picLocks noChangeAspect="1"/>
          </p:cNvPicPr>
          <p:nvPr/>
        </p:nvPicPr>
        <p:blipFill>
          <a:blip r:embed="rId1"/>
          <a:stretch>
            <a:fillRect/>
          </a:stretch>
        </p:blipFill>
        <p:spPr>
          <a:xfrm>
            <a:off x="740664" y="1993392"/>
            <a:ext cx="219456" cy="219456"/>
          </a:xfrm>
          <a:prstGeom prst="rect">
            <a:avLst/>
          </a:prstGeom>
        </p:spPr>
      </p:pic>
      <p:sp>
        <p:nvSpPr>
          <p:cNvPr id="10" name="Text 7"/>
          <p:cNvSpPr/>
          <p:nvPr/>
        </p:nvSpPr>
        <p:spPr>
          <a:xfrm>
            <a:off x="1188720" y="1856232"/>
            <a:ext cx="1325880" cy="310896"/>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VS Code</a:t>
            </a:r>
            <a:endParaRPr lang="en-US" sz="1400" dirty="0"/>
          </a:p>
        </p:txBody>
      </p:sp>
      <p:sp>
        <p:nvSpPr>
          <p:cNvPr id="11" name="Text 8"/>
          <p:cNvSpPr/>
          <p:nvPr/>
        </p:nvSpPr>
        <p:spPr>
          <a:xfrm>
            <a:off x="1188720" y="2148840"/>
            <a:ext cx="13258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via MCP</a:t>
            </a:r>
            <a:endParaRPr lang="en-US" sz="1050" dirty="0"/>
          </a:p>
        </p:txBody>
      </p:sp>
      <p:sp>
        <p:nvSpPr>
          <p:cNvPr id="12" name="Shape 9"/>
          <p:cNvSpPr/>
          <p:nvPr/>
        </p:nvSpPr>
        <p:spPr>
          <a:xfrm>
            <a:off x="457200" y="2606040"/>
            <a:ext cx="2103120" cy="822960"/>
          </a:xfrm>
          <a:prstGeom prst="roundRect">
            <a:avLst>
              <a:gd name="adj" fmla="val 8889"/>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3" name="Shape 10"/>
          <p:cNvSpPr/>
          <p:nvPr/>
        </p:nvSpPr>
        <p:spPr>
          <a:xfrm>
            <a:off x="640080" y="2807208"/>
            <a:ext cx="420624" cy="420624"/>
          </a:xfrm>
          <a:prstGeom prst="ellipse">
            <a:avLst/>
          </a:prstGeom>
          <a:solidFill>
            <a:srgbClr val="0E1730"/>
          </a:solidFill>
          <a:ln w="12700">
            <a:solidFill>
              <a:srgbClr val="38BDF8">
                <a:alpha val="60000"/>
              </a:srgbClr>
            </a:solidFill>
            <a:prstDash val="solid"/>
          </a:ln>
        </p:spPr>
      </p:sp>
      <p:pic>
        <p:nvPicPr>
          <p:cNvPr id="14" name="Image 1" descr="preencoded.png">    </p:cNvPr>
          <p:cNvPicPr>
            <a:picLocks noChangeAspect="1"/>
          </p:cNvPicPr>
          <p:nvPr/>
        </p:nvPicPr>
        <p:blipFill>
          <a:blip r:embed="rId2"/>
          <a:stretch>
            <a:fillRect/>
          </a:stretch>
        </p:blipFill>
        <p:spPr>
          <a:xfrm>
            <a:off x="740664" y="2907792"/>
            <a:ext cx="219456" cy="219456"/>
          </a:xfrm>
          <a:prstGeom prst="rect">
            <a:avLst/>
          </a:prstGeom>
        </p:spPr>
      </p:pic>
      <p:sp>
        <p:nvSpPr>
          <p:cNvPr id="15" name="Text 11"/>
          <p:cNvSpPr/>
          <p:nvPr/>
        </p:nvSpPr>
        <p:spPr>
          <a:xfrm>
            <a:off x="1188720" y="2770632"/>
            <a:ext cx="1325880" cy="310896"/>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AI Tools</a:t>
            </a:r>
            <a:endParaRPr lang="en-US" sz="1400" dirty="0"/>
          </a:p>
        </p:txBody>
      </p:sp>
      <p:sp>
        <p:nvSpPr>
          <p:cNvPr id="16" name="Text 12"/>
          <p:cNvSpPr/>
          <p:nvPr/>
        </p:nvSpPr>
        <p:spPr>
          <a:xfrm>
            <a:off x="1188720" y="3063240"/>
            <a:ext cx="13258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Claude, agents</a:t>
            </a:r>
            <a:endParaRPr lang="en-US" sz="1050" dirty="0"/>
          </a:p>
        </p:txBody>
      </p:sp>
      <p:sp>
        <p:nvSpPr>
          <p:cNvPr id="17" name="Shape 13"/>
          <p:cNvSpPr/>
          <p:nvPr/>
        </p:nvSpPr>
        <p:spPr>
          <a:xfrm>
            <a:off x="457200" y="3520440"/>
            <a:ext cx="2103120" cy="822960"/>
          </a:xfrm>
          <a:prstGeom prst="roundRect">
            <a:avLst>
              <a:gd name="adj" fmla="val 8889"/>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8" name="Shape 14"/>
          <p:cNvSpPr/>
          <p:nvPr/>
        </p:nvSpPr>
        <p:spPr>
          <a:xfrm>
            <a:off x="640080" y="3721608"/>
            <a:ext cx="420624" cy="420624"/>
          </a:xfrm>
          <a:prstGeom prst="ellipse">
            <a:avLst/>
          </a:prstGeom>
          <a:solidFill>
            <a:srgbClr val="0E1730"/>
          </a:solidFill>
          <a:ln w="12700">
            <a:solidFill>
              <a:srgbClr val="38BDF8">
                <a:alpha val="60000"/>
              </a:srgbClr>
            </a:solidFill>
            <a:prstDash val="solid"/>
          </a:ln>
        </p:spPr>
      </p:sp>
      <p:pic>
        <p:nvPicPr>
          <p:cNvPr id="19" name="Image 2" descr="preencoded.png">    </p:cNvPr>
          <p:cNvPicPr>
            <a:picLocks noChangeAspect="1"/>
          </p:cNvPicPr>
          <p:nvPr/>
        </p:nvPicPr>
        <p:blipFill>
          <a:blip r:embed="rId3"/>
          <a:stretch>
            <a:fillRect/>
          </a:stretch>
        </p:blipFill>
        <p:spPr>
          <a:xfrm>
            <a:off x="740664" y="3822192"/>
            <a:ext cx="219456" cy="219456"/>
          </a:xfrm>
          <a:prstGeom prst="rect">
            <a:avLst/>
          </a:prstGeom>
        </p:spPr>
      </p:pic>
      <p:sp>
        <p:nvSpPr>
          <p:cNvPr id="20" name="Text 15"/>
          <p:cNvSpPr/>
          <p:nvPr/>
        </p:nvSpPr>
        <p:spPr>
          <a:xfrm>
            <a:off x="1188720" y="3685032"/>
            <a:ext cx="1325880" cy="310896"/>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Graph Mind UI</a:t>
            </a:r>
            <a:endParaRPr lang="en-US" sz="1400" dirty="0"/>
          </a:p>
        </p:txBody>
      </p:sp>
      <p:sp>
        <p:nvSpPr>
          <p:cNvPr id="21" name="Text 16"/>
          <p:cNvSpPr/>
          <p:nvPr/>
        </p:nvSpPr>
        <p:spPr>
          <a:xfrm>
            <a:off x="1188720" y="3977640"/>
            <a:ext cx="1325880"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our web client</a:t>
            </a:r>
            <a:endParaRPr lang="en-US" sz="1050" dirty="0"/>
          </a:p>
        </p:txBody>
      </p:sp>
      <p:sp>
        <p:nvSpPr>
          <p:cNvPr id="22" name="Shape 17"/>
          <p:cNvSpPr/>
          <p:nvPr/>
        </p:nvSpPr>
        <p:spPr>
          <a:xfrm>
            <a:off x="2578608" y="2103120"/>
            <a:ext cx="548640" cy="0"/>
          </a:xfrm>
          <a:prstGeom prst="line">
            <a:avLst/>
          </a:prstGeom>
          <a:noFill/>
          <a:ln w="25400">
            <a:solidFill>
              <a:srgbClr val="38BDF8"/>
            </a:solidFill>
            <a:prstDash val="solid"/>
            <a:tailEnd type="triangle"/>
          </a:ln>
        </p:spPr>
      </p:sp>
      <p:sp>
        <p:nvSpPr>
          <p:cNvPr id="23" name="Shape 18"/>
          <p:cNvSpPr/>
          <p:nvPr/>
        </p:nvSpPr>
        <p:spPr>
          <a:xfrm>
            <a:off x="2578608" y="3017520"/>
            <a:ext cx="548640" cy="0"/>
          </a:xfrm>
          <a:prstGeom prst="line">
            <a:avLst/>
          </a:prstGeom>
          <a:noFill/>
          <a:ln w="25400">
            <a:solidFill>
              <a:srgbClr val="38BDF8"/>
            </a:solidFill>
            <a:prstDash val="solid"/>
            <a:tailEnd type="triangle"/>
          </a:ln>
        </p:spPr>
      </p:sp>
      <p:sp>
        <p:nvSpPr>
          <p:cNvPr id="24" name="Shape 19"/>
          <p:cNvSpPr/>
          <p:nvPr/>
        </p:nvSpPr>
        <p:spPr>
          <a:xfrm>
            <a:off x="2578608" y="3931920"/>
            <a:ext cx="548640" cy="0"/>
          </a:xfrm>
          <a:prstGeom prst="line">
            <a:avLst/>
          </a:prstGeom>
          <a:noFill/>
          <a:ln w="25400">
            <a:solidFill>
              <a:srgbClr val="38BDF8"/>
            </a:solidFill>
            <a:prstDash val="solid"/>
            <a:tailEnd type="triangle"/>
          </a:ln>
        </p:spPr>
      </p:sp>
      <p:sp>
        <p:nvSpPr>
          <p:cNvPr id="25" name="Text 20"/>
          <p:cNvSpPr/>
          <p:nvPr/>
        </p:nvSpPr>
        <p:spPr>
          <a:xfrm>
            <a:off x="2395728" y="4114800"/>
            <a:ext cx="1097280" cy="274320"/>
          </a:xfrm>
          <a:prstGeom prst="rect">
            <a:avLst/>
          </a:prstGeom>
          <a:noFill/>
          <a:ln/>
        </p:spPr>
        <p:txBody>
          <a:bodyPr wrap="square" rtlCol="0" anchor="ctr"/>
          <a:lstStyle/>
          <a:p>
            <a:pPr algn="ctr" indent="0" marL="0">
              <a:buNone/>
            </a:pPr>
            <a:r>
              <a:rPr lang="en-US" sz="900" i="1" dirty="0">
                <a:solidFill>
                  <a:srgbClr val="38BDF8"/>
                </a:solidFill>
                <a:latin typeface="Calibri" pitchFamily="34" charset="0"/>
                <a:ea typeface="Calibri" pitchFamily="34" charset="-122"/>
                <a:cs typeface="Calibri" pitchFamily="34" charset="-120"/>
              </a:rPr>
              <a:t>MCP / HTTP</a:t>
            </a:r>
            <a:endParaRPr lang="en-US" sz="900" dirty="0"/>
          </a:p>
        </p:txBody>
      </p:sp>
      <p:sp>
        <p:nvSpPr>
          <p:cNvPr id="26" name="Shape 21"/>
          <p:cNvSpPr/>
          <p:nvPr/>
        </p:nvSpPr>
        <p:spPr>
          <a:xfrm>
            <a:off x="3154680" y="1627632"/>
            <a:ext cx="2743200" cy="2788920"/>
          </a:xfrm>
          <a:prstGeom prst="roundRect">
            <a:avLst>
              <a:gd name="adj" fmla="val 3333"/>
            </a:avLst>
          </a:prstGeom>
          <a:solidFill>
            <a:srgbClr val="1C2A45"/>
          </a:solidFill>
          <a:ln w="19050">
            <a:solidFill>
              <a:srgbClr val="2DD4BF"/>
            </a:solidFill>
            <a:prstDash val="solid"/>
          </a:ln>
          <a:effectLst>
            <a:outerShdw sx="100000" sy="100000" kx="0" ky="0" algn="bl" rotWithShape="0" blurRad="114300" dist="38100" dir="5400000">
              <a:srgbClr val="000000">
                <a:alpha val="35000"/>
              </a:srgbClr>
            </a:outerShdw>
          </a:effectLst>
        </p:spPr>
      </p:sp>
      <p:sp>
        <p:nvSpPr>
          <p:cNvPr id="27" name="Shape 22"/>
          <p:cNvSpPr/>
          <p:nvPr/>
        </p:nvSpPr>
        <p:spPr>
          <a:xfrm>
            <a:off x="4215384" y="1792224"/>
            <a:ext cx="603504" cy="603504"/>
          </a:xfrm>
          <a:prstGeom prst="ellipse">
            <a:avLst/>
          </a:prstGeom>
          <a:solidFill>
            <a:srgbClr val="2DD4BF"/>
          </a:solidFill>
          <a:ln/>
        </p:spPr>
      </p:sp>
      <p:pic>
        <p:nvPicPr>
          <p:cNvPr id="28" name="Image 3" descr="preencoded.png">    </p:cNvPr>
          <p:cNvPicPr>
            <a:picLocks noChangeAspect="1"/>
          </p:cNvPicPr>
          <p:nvPr/>
        </p:nvPicPr>
        <p:blipFill>
          <a:blip r:embed="rId4"/>
          <a:stretch>
            <a:fillRect/>
          </a:stretch>
        </p:blipFill>
        <p:spPr>
          <a:xfrm>
            <a:off x="4361688" y="1938528"/>
            <a:ext cx="310896" cy="310896"/>
          </a:xfrm>
          <a:prstGeom prst="rect">
            <a:avLst/>
          </a:prstGeom>
        </p:spPr>
      </p:pic>
      <p:sp>
        <p:nvSpPr>
          <p:cNvPr id="29" name="Text 23"/>
          <p:cNvSpPr/>
          <p:nvPr/>
        </p:nvSpPr>
        <p:spPr>
          <a:xfrm>
            <a:off x="3154680" y="2414016"/>
            <a:ext cx="2743200" cy="274320"/>
          </a:xfrm>
          <a:prstGeom prst="rect">
            <a:avLst/>
          </a:prstGeom>
          <a:noFill/>
          <a:ln/>
        </p:spPr>
        <p:txBody>
          <a:bodyPr wrap="square" rtlCol="0" anchor="ctr"/>
          <a:lstStyle/>
          <a:p>
            <a:pPr algn="ctr" indent="0" marL="0">
              <a:buNone/>
            </a:pPr>
            <a:r>
              <a:rPr lang="en-US" sz="1500" b="1" dirty="0">
                <a:solidFill>
                  <a:srgbClr val="F8FAFC"/>
                </a:solidFill>
                <a:latin typeface="Arial" pitchFamily="34" charset="0"/>
                <a:ea typeface="Arial" pitchFamily="34" charset="-122"/>
                <a:cs typeface="Arial" pitchFamily="34" charset="-120"/>
              </a:rPr>
              <a:t>Graph Mind</a:t>
            </a:r>
            <a:endParaRPr lang="en-US" sz="1500" dirty="0"/>
          </a:p>
        </p:txBody>
      </p:sp>
      <p:sp>
        <p:nvSpPr>
          <p:cNvPr id="30" name="Text 24"/>
          <p:cNvSpPr/>
          <p:nvPr/>
        </p:nvSpPr>
        <p:spPr>
          <a:xfrm>
            <a:off x="3154680" y="2670048"/>
            <a:ext cx="2743200" cy="237744"/>
          </a:xfrm>
          <a:prstGeom prst="rect">
            <a:avLst/>
          </a:prstGeom>
          <a:noFill/>
          <a:ln/>
        </p:spPr>
        <p:txBody>
          <a:bodyPr wrap="square" rtlCol="0" anchor="ctr"/>
          <a:lstStyle/>
          <a:p>
            <a:pPr algn="ctr" indent="0" marL="0">
              <a:buNone/>
            </a:pPr>
            <a:r>
              <a:rPr lang="en-US" sz="1100" dirty="0">
                <a:solidFill>
                  <a:srgbClr val="2DD4BF"/>
                </a:solidFill>
                <a:latin typeface="Calibri" pitchFamily="34" charset="0"/>
                <a:ea typeface="Calibri" pitchFamily="34" charset="-122"/>
                <a:cs typeface="Calibri" pitchFamily="34" charset="-120"/>
              </a:rPr>
              <a:t>MCP Server</a:t>
            </a:r>
            <a:endParaRPr lang="en-US" sz="1100" dirty="0"/>
          </a:p>
        </p:txBody>
      </p:sp>
      <p:sp>
        <p:nvSpPr>
          <p:cNvPr id="31" name="Shape 25"/>
          <p:cNvSpPr/>
          <p:nvPr/>
        </p:nvSpPr>
        <p:spPr>
          <a:xfrm>
            <a:off x="3310128" y="2962656"/>
            <a:ext cx="2432304" cy="402336"/>
          </a:xfrm>
          <a:prstGeom prst="roundRect">
            <a:avLst>
              <a:gd name="adj" fmla="val 11364"/>
            </a:avLst>
          </a:prstGeom>
          <a:solidFill>
            <a:srgbClr val="0B1221"/>
          </a:solidFill>
          <a:ln/>
        </p:spPr>
      </p:sp>
      <p:sp>
        <p:nvSpPr>
          <p:cNvPr id="32" name="Text 26"/>
          <p:cNvSpPr/>
          <p:nvPr/>
        </p:nvSpPr>
        <p:spPr>
          <a:xfrm>
            <a:off x="3310128" y="2962656"/>
            <a:ext cx="2432304" cy="402336"/>
          </a:xfrm>
          <a:prstGeom prst="rect">
            <a:avLst/>
          </a:prstGeom>
          <a:noFill/>
          <a:ln/>
        </p:spPr>
        <p:txBody>
          <a:bodyPr wrap="square" lIns="0" tIns="0" rIns="0" bIns="0" rtlCol="0" anchor="ctr"/>
          <a:lstStyle/>
          <a:p>
            <a:pPr algn="ctr" indent="0" marL="0">
              <a:buNone/>
            </a:pPr>
            <a:r>
              <a:rPr lang="en-US" sz="1100" dirty="0">
                <a:solidFill>
                  <a:srgbClr val="38BDF8"/>
                </a:solidFill>
                <a:latin typeface="Calibri" pitchFamily="34" charset="0"/>
                <a:ea typeface="Calibri" pitchFamily="34" charset="-122"/>
                <a:cs typeface="Calibri" pitchFamily="34" charset="-120"/>
              </a:rPr>
              <a:t>Simple → FastPath (regex)</a:t>
            </a:r>
            <a:endParaRPr lang="en-US" sz="1100" dirty="0"/>
          </a:p>
        </p:txBody>
      </p:sp>
      <p:sp>
        <p:nvSpPr>
          <p:cNvPr id="33" name="Shape 27"/>
          <p:cNvSpPr/>
          <p:nvPr/>
        </p:nvSpPr>
        <p:spPr>
          <a:xfrm>
            <a:off x="3310128" y="3419856"/>
            <a:ext cx="2432304" cy="402336"/>
          </a:xfrm>
          <a:prstGeom prst="roundRect">
            <a:avLst>
              <a:gd name="adj" fmla="val 11364"/>
            </a:avLst>
          </a:prstGeom>
          <a:solidFill>
            <a:srgbClr val="0B1221"/>
          </a:solidFill>
          <a:ln/>
        </p:spPr>
      </p:sp>
      <p:sp>
        <p:nvSpPr>
          <p:cNvPr id="34" name="Text 28"/>
          <p:cNvSpPr/>
          <p:nvPr/>
        </p:nvSpPr>
        <p:spPr>
          <a:xfrm>
            <a:off x="3310128" y="3419856"/>
            <a:ext cx="2432304" cy="402336"/>
          </a:xfrm>
          <a:prstGeom prst="rect">
            <a:avLst/>
          </a:prstGeom>
          <a:noFill/>
          <a:ln/>
        </p:spPr>
        <p:txBody>
          <a:bodyPr wrap="square" lIns="0" tIns="0" rIns="0" bIns="0" rtlCol="0" anchor="ctr"/>
          <a:lstStyle/>
          <a:p>
            <a:pPr algn="ctr" indent="0" marL="0">
              <a:buNone/>
            </a:pPr>
            <a:r>
              <a:rPr lang="en-US" sz="1100" dirty="0">
                <a:solidFill>
                  <a:srgbClr val="FBBF24"/>
                </a:solidFill>
                <a:latin typeface="Calibri" pitchFamily="34" charset="0"/>
                <a:ea typeface="Calibri" pitchFamily="34" charset="-122"/>
                <a:cs typeface="Calibri" pitchFamily="34" charset="-120"/>
              </a:rPr>
              <a:t>Complex → LLM API</a:t>
            </a:r>
            <a:endParaRPr lang="en-US" sz="1100" dirty="0"/>
          </a:p>
        </p:txBody>
      </p:sp>
      <p:sp>
        <p:nvSpPr>
          <p:cNvPr id="35" name="Shape 29"/>
          <p:cNvSpPr/>
          <p:nvPr/>
        </p:nvSpPr>
        <p:spPr>
          <a:xfrm>
            <a:off x="3310128" y="3895344"/>
            <a:ext cx="2432304" cy="402336"/>
          </a:xfrm>
          <a:prstGeom prst="roundRect">
            <a:avLst>
              <a:gd name="adj" fmla="val 11364"/>
            </a:avLst>
          </a:prstGeom>
          <a:solidFill>
            <a:srgbClr val="4ADE80"/>
          </a:solidFill>
          <a:ln/>
        </p:spPr>
      </p:sp>
      <p:sp>
        <p:nvSpPr>
          <p:cNvPr id="36" name="Text 30"/>
          <p:cNvSpPr/>
          <p:nvPr/>
        </p:nvSpPr>
        <p:spPr>
          <a:xfrm>
            <a:off x="3310128" y="3895344"/>
            <a:ext cx="2432304" cy="402336"/>
          </a:xfrm>
          <a:prstGeom prst="rect">
            <a:avLst/>
          </a:prstGeom>
          <a:noFill/>
          <a:ln/>
        </p:spPr>
        <p:txBody>
          <a:bodyPr wrap="square" lIns="0" tIns="0" rIns="0" bIns="0" rtlCol="0" anchor="ctr"/>
          <a:lstStyle/>
          <a:p>
            <a:pPr algn="ctr" indent="0" marL="0">
              <a:buNone/>
            </a:pPr>
            <a:r>
              <a:rPr lang="en-US" sz="1100" b="1" dirty="0">
                <a:solidFill>
                  <a:srgbClr val="0B1221"/>
                </a:solidFill>
                <a:latin typeface="Calibri" pitchFamily="34" charset="0"/>
                <a:ea typeface="Calibri" pitchFamily="34" charset="-122"/>
                <a:cs typeface="Calibri" pitchFamily="34" charset="-120"/>
              </a:rPr>
              <a:t>Multi-layer guard  ·  read-only</a:t>
            </a:r>
            <a:endParaRPr lang="en-US" sz="1100" dirty="0"/>
          </a:p>
        </p:txBody>
      </p:sp>
      <p:sp>
        <p:nvSpPr>
          <p:cNvPr id="37" name="Shape 31"/>
          <p:cNvSpPr/>
          <p:nvPr/>
        </p:nvSpPr>
        <p:spPr>
          <a:xfrm>
            <a:off x="5897880" y="3200400"/>
            <a:ext cx="960120" cy="0"/>
          </a:xfrm>
          <a:prstGeom prst="line">
            <a:avLst/>
          </a:prstGeom>
          <a:noFill/>
          <a:ln w="25400">
            <a:solidFill>
              <a:srgbClr val="4ADE80"/>
            </a:solidFill>
            <a:prstDash val="solid"/>
            <a:tailEnd type="triangle"/>
          </a:ln>
        </p:spPr>
      </p:sp>
      <p:sp>
        <p:nvSpPr>
          <p:cNvPr id="38" name="Text 32"/>
          <p:cNvSpPr/>
          <p:nvPr/>
        </p:nvSpPr>
        <p:spPr>
          <a:xfrm>
            <a:off x="5852160" y="2871216"/>
            <a:ext cx="1051560" cy="274320"/>
          </a:xfrm>
          <a:prstGeom prst="rect">
            <a:avLst/>
          </a:prstGeom>
          <a:noFill/>
          <a:ln/>
        </p:spPr>
        <p:txBody>
          <a:bodyPr wrap="square" rtlCol="0" anchor="ctr"/>
          <a:lstStyle/>
          <a:p>
            <a:pPr algn="ctr" indent="0" marL="0">
              <a:buNone/>
            </a:pPr>
            <a:r>
              <a:rPr lang="en-US" sz="900" i="1" dirty="0">
                <a:solidFill>
                  <a:srgbClr val="4ADE80"/>
                </a:solidFill>
                <a:latin typeface="Calibri" pitchFamily="34" charset="0"/>
                <a:ea typeface="Calibri" pitchFamily="34" charset="-122"/>
                <a:cs typeface="Calibri" pitchFamily="34" charset="-120"/>
              </a:rPr>
              <a:t>Cypher</a:t>
            </a:r>
            <a:endParaRPr lang="en-US" sz="900" dirty="0"/>
          </a:p>
        </p:txBody>
      </p:sp>
      <p:sp>
        <p:nvSpPr>
          <p:cNvPr id="39" name="Shape 33"/>
          <p:cNvSpPr/>
          <p:nvPr/>
        </p:nvSpPr>
        <p:spPr>
          <a:xfrm>
            <a:off x="6949440" y="2487168"/>
            <a:ext cx="1691640" cy="1463040"/>
          </a:xfrm>
          <a:prstGeom prst="roundRect">
            <a:avLst>
              <a:gd name="adj" fmla="val 6250"/>
            </a:avLst>
          </a:prstGeom>
          <a:solidFill>
            <a:srgbClr val="162133"/>
          </a:solidFill>
          <a:ln w="19050">
            <a:solidFill>
              <a:srgbClr val="4ADE80"/>
            </a:solidFill>
            <a:prstDash val="solid"/>
          </a:ln>
          <a:effectLst>
            <a:outerShdw sx="100000" sy="100000" kx="0" ky="0" algn="bl" rotWithShape="0" blurRad="114300" dist="38100" dir="5400000">
              <a:srgbClr val="000000">
                <a:alpha val="35000"/>
              </a:srgbClr>
            </a:outerShdw>
          </a:effectLst>
        </p:spPr>
      </p:sp>
      <p:sp>
        <p:nvSpPr>
          <p:cNvPr id="40" name="Shape 34"/>
          <p:cNvSpPr/>
          <p:nvPr/>
        </p:nvSpPr>
        <p:spPr>
          <a:xfrm>
            <a:off x="7479792" y="2670048"/>
            <a:ext cx="603504" cy="603504"/>
          </a:xfrm>
          <a:prstGeom prst="ellipse">
            <a:avLst/>
          </a:prstGeom>
          <a:solidFill>
            <a:srgbClr val="0E1730"/>
          </a:solidFill>
          <a:ln w="12700">
            <a:solidFill>
              <a:srgbClr val="4ADE80"/>
            </a:solidFill>
            <a:prstDash val="solid"/>
          </a:ln>
        </p:spPr>
      </p:sp>
      <p:pic>
        <p:nvPicPr>
          <p:cNvPr id="41" name="Image 4" descr="preencoded.png">    </p:cNvPr>
          <p:cNvPicPr>
            <a:picLocks noChangeAspect="1"/>
          </p:cNvPicPr>
          <p:nvPr/>
        </p:nvPicPr>
        <p:blipFill>
          <a:blip r:embed="rId5"/>
          <a:stretch>
            <a:fillRect/>
          </a:stretch>
        </p:blipFill>
        <p:spPr>
          <a:xfrm>
            <a:off x="7626096" y="2816352"/>
            <a:ext cx="310896" cy="310896"/>
          </a:xfrm>
          <a:prstGeom prst="rect">
            <a:avLst/>
          </a:prstGeom>
        </p:spPr>
      </p:pic>
      <p:sp>
        <p:nvSpPr>
          <p:cNvPr id="42" name="Text 35"/>
          <p:cNvSpPr/>
          <p:nvPr/>
        </p:nvSpPr>
        <p:spPr>
          <a:xfrm>
            <a:off x="6949440" y="3310128"/>
            <a:ext cx="1691640" cy="292608"/>
          </a:xfrm>
          <a:prstGeom prst="rect">
            <a:avLst/>
          </a:prstGeom>
          <a:noFill/>
          <a:ln/>
        </p:spPr>
        <p:txBody>
          <a:bodyPr wrap="square" rtlCol="0" anchor="ctr"/>
          <a:lstStyle/>
          <a:p>
            <a:pPr algn="ctr" indent="0" marL="0">
              <a:buNone/>
            </a:pPr>
            <a:r>
              <a:rPr lang="en-US" sz="1600" b="1" dirty="0">
                <a:solidFill>
                  <a:srgbClr val="F8FAFC"/>
                </a:solidFill>
                <a:latin typeface="Arial" pitchFamily="34" charset="0"/>
                <a:ea typeface="Arial" pitchFamily="34" charset="-122"/>
                <a:cs typeface="Arial" pitchFamily="34" charset="-120"/>
              </a:rPr>
              <a:t>Neo4j</a:t>
            </a:r>
            <a:endParaRPr lang="en-US" sz="1600" dirty="0"/>
          </a:p>
        </p:txBody>
      </p:sp>
      <p:sp>
        <p:nvSpPr>
          <p:cNvPr id="43" name="Text 36"/>
          <p:cNvSpPr/>
          <p:nvPr/>
        </p:nvSpPr>
        <p:spPr>
          <a:xfrm>
            <a:off x="6949440" y="3584448"/>
            <a:ext cx="1691640" cy="256032"/>
          </a:xfrm>
          <a:prstGeom prst="rect">
            <a:avLst/>
          </a:prstGeom>
          <a:noFill/>
          <a:ln/>
        </p:spPr>
        <p:txBody>
          <a:bodyPr wrap="square" rtlCol="0" anchor="ctr"/>
          <a:lstStyle/>
          <a:p>
            <a:pPr algn="ctr" indent="0" marL="0">
              <a:buNone/>
            </a:pPr>
            <a:r>
              <a:rPr lang="en-US" sz="1050" dirty="0">
                <a:solidFill>
                  <a:srgbClr val="94A3B8"/>
                </a:solidFill>
                <a:latin typeface="Calibri" pitchFamily="34" charset="0"/>
                <a:ea typeface="Calibri" pitchFamily="34" charset="-122"/>
                <a:cs typeface="Calibri" pitchFamily="34" charset="-120"/>
              </a:rPr>
              <a:t>Knowledge graph</a:t>
            </a:r>
            <a:endParaRPr lang="en-US" sz="1050" dirty="0"/>
          </a:p>
        </p:txBody>
      </p:sp>
      <p:sp>
        <p:nvSpPr>
          <p:cNvPr id="44" name="Text 37"/>
          <p:cNvSpPr/>
          <p:nvPr/>
        </p:nvSpPr>
        <p:spPr>
          <a:xfrm>
            <a:off x="548640" y="4553712"/>
            <a:ext cx="8229600" cy="274320"/>
          </a:xfrm>
          <a:prstGeom prst="rect">
            <a:avLst/>
          </a:prstGeom>
          <a:noFill/>
          <a:ln/>
        </p:spPr>
        <p:txBody>
          <a:bodyPr wrap="square"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Results return to the UI as an interactive graph + the exact Cypher.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411480"/>
            <a:ext cx="8229600" cy="548640"/>
          </a:xfrm>
          <a:prstGeom prst="rect">
            <a:avLst/>
          </a:prstGeom>
          <a:noFill/>
          <a:ln/>
        </p:spPr>
        <p:txBody>
          <a:bodyPr wrap="square" rtlCol="0" anchor="ctr"/>
          <a:lstStyle/>
          <a:p>
            <a:pPr indent="0" marL="0">
              <a:buNone/>
            </a:pPr>
            <a:r>
              <a:rPr lang="en-US" sz="2800" b="1" dirty="0">
                <a:solidFill>
                  <a:srgbClr val="F8FAFC"/>
                </a:solidFill>
                <a:latin typeface="Arial" pitchFamily="34" charset="0"/>
                <a:ea typeface="Arial" pitchFamily="34" charset="-122"/>
                <a:cs typeface="Arial" pitchFamily="34" charset="-120"/>
              </a:rPr>
              <a:t>FastPath: skip the LLM for simple queries</a:t>
            </a:r>
            <a:endParaRPr lang="en-US" sz="2800" dirty="0"/>
          </a:p>
        </p:txBody>
      </p:sp>
      <p:sp>
        <p:nvSpPr>
          <p:cNvPr id="5" name="Text 3"/>
          <p:cNvSpPr/>
          <p:nvPr/>
        </p:nvSpPr>
        <p:spPr>
          <a:xfrm>
            <a:off x="548640" y="1024128"/>
            <a:ext cx="8229600" cy="365760"/>
          </a:xfrm>
          <a:prstGeom prst="rect">
            <a:avLst/>
          </a:prstGeom>
          <a:noFill/>
          <a:ln/>
        </p:spPr>
        <p:txBody>
          <a:bodyPr wrap="square" rtlCol="0" anchor="ctr"/>
          <a:lstStyle/>
          <a:p>
            <a:pPr indent="0" marL="0">
              <a:buNone/>
            </a:pPr>
            <a:r>
              <a:rPr lang="en-US" sz="1550" dirty="0">
                <a:solidFill>
                  <a:srgbClr val="94A3B8"/>
                </a:solidFill>
                <a:latin typeface="Calibri" pitchFamily="34" charset="0"/>
                <a:ea typeface="Calibri" pitchFamily="34" charset="-122"/>
                <a:cs typeface="Calibri" pitchFamily="34" charset="-120"/>
              </a:rPr>
              <a:t>Simple questions become Cypher by regex — no model call. Complex ones use the LLM API.</a:t>
            </a:r>
            <a:endParaRPr lang="en-US" sz="1550" dirty="0"/>
          </a:p>
        </p:txBody>
      </p:sp>
      <p:sp>
        <p:nvSpPr>
          <p:cNvPr id="6" name="Shape 4"/>
          <p:cNvSpPr/>
          <p:nvPr/>
        </p:nvSpPr>
        <p:spPr>
          <a:xfrm>
            <a:off x="502920" y="1965960"/>
            <a:ext cx="1645920" cy="822960"/>
          </a:xfrm>
          <a:prstGeom prst="roundRect">
            <a:avLst>
              <a:gd name="adj" fmla="val 8889"/>
            </a:avLst>
          </a:prstGeom>
          <a:solidFill>
            <a:srgbClr val="1C2A45"/>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7" name="Text 5"/>
          <p:cNvSpPr/>
          <p:nvPr/>
        </p:nvSpPr>
        <p:spPr>
          <a:xfrm>
            <a:off x="502920" y="1965960"/>
            <a:ext cx="1645920" cy="82296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8FAFC"/>
                </a:solidFill>
                <a:latin typeface="Calibri" pitchFamily="34" charset="0"/>
                <a:ea typeface="Calibri" pitchFamily="34" charset="-122"/>
                <a:cs typeface="Calibri" pitchFamily="34" charset="-120"/>
              </a:rPr>
              <a:t>Plain-English</a:t>
            </a:r>
            <a:endParaRPr lang="en-US" sz="1150" dirty="0"/>
          </a:p>
          <a:p>
            <a:pPr algn="ctr" indent="0" marL="0">
              <a:lnSpc>
                <a:spcPct val="100000"/>
              </a:lnSpc>
              <a:buNone/>
            </a:pPr>
            <a:r>
              <a:rPr lang="en-US" sz="1150" b="1" dirty="0">
                <a:solidFill>
                  <a:srgbClr val="F8FAFC"/>
                </a:solidFill>
                <a:latin typeface="Calibri" pitchFamily="34" charset="0"/>
                <a:ea typeface="Calibri" pitchFamily="34" charset="-122"/>
                <a:cs typeface="Calibri" pitchFamily="34" charset="-120"/>
              </a:rPr>
              <a:t>question</a:t>
            </a:r>
            <a:endParaRPr lang="en-US" sz="1150" dirty="0"/>
          </a:p>
        </p:txBody>
      </p:sp>
      <p:sp>
        <p:nvSpPr>
          <p:cNvPr id="8" name="Shape 6"/>
          <p:cNvSpPr/>
          <p:nvPr/>
        </p:nvSpPr>
        <p:spPr>
          <a:xfrm>
            <a:off x="2743200" y="1783080"/>
            <a:ext cx="2011680" cy="603504"/>
          </a:xfrm>
          <a:prstGeom prst="roundRect">
            <a:avLst>
              <a:gd name="adj" fmla="val 12121"/>
            </a:avLst>
          </a:prstGeom>
          <a:solidFill>
            <a:srgbClr val="1C2A45"/>
          </a:solidFill>
          <a:ln w="19050">
            <a:solidFill>
              <a:srgbClr val="38BDF8"/>
            </a:solidFill>
            <a:prstDash val="solid"/>
          </a:ln>
          <a:effectLst>
            <a:outerShdw sx="100000" sy="100000" kx="0" ky="0" algn="bl" rotWithShape="0" blurRad="114300" dist="38100" dir="5400000">
              <a:srgbClr val="000000">
                <a:alpha val="35000"/>
              </a:srgbClr>
            </a:outerShdw>
          </a:effectLst>
        </p:spPr>
      </p:sp>
      <p:sp>
        <p:nvSpPr>
          <p:cNvPr id="9" name="Text 7"/>
          <p:cNvSpPr/>
          <p:nvPr/>
        </p:nvSpPr>
        <p:spPr>
          <a:xfrm>
            <a:off x="2743200" y="1783080"/>
            <a:ext cx="2011680" cy="603504"/>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38BDF8"/>
                </a:solidFill>
                <a:latin typeface="Calibri" pitchFamily="34" charset="0"/>
                <a:ea typeface="Calibri" pitchFamily="34" charset="-122"/>
                <a:cs typeface="Calibri" pitchFamily="34" charset="-120"/>
              </a:rPr>
              <a:t>Simple → FastPath</a:t>
            </a:r>
            <a:endParaRPr lang="en-US" sz="1150" dirty="0"/>
          </a:p>
          <a:p>
            <a:pPr algn="ctr" indent="0" marL="0">
              <a:lnSpc>
                <a:spcPct val="100000"/>
              </a:lnSpc>
              <a:buNone/>
            </a:pPr>
            <a:r>
              <a:rPr lang="en-US" sz="1150" b="1" dirty="0">
                <a:solidFill>
                  <a:srgbClr val="38BDF8"/>
                </a:solidFill>
                <a:latin typeface="Calibri" pitchFamily="34" charset="0"/>
                <a:ea typeface="Calibri" pitchFamily="34" charset="-122"/>
                <a:cs typeface="Calibri" pitchFamily="34" charset="-120"/>
              </a:rPr>
              <a:t>regex, no LLM</a:t>
            </a:r>
            <a:endParaRPr lang="en-US" sz="1150" dirty="0"/>
          </a:p>
        </p:txBody>
      </p:sp>
      <p:sp>
        <p:nvSpPr>
          <p:cNvPr id="10" name="Shape 8"/>
          <p:cNvSpPr/>
          <p:nvPr/>
        </p:nvSpPr>
        <p:spPr>
          <a:xfrm>
            <a:off x="2743200" y="2542032"/>
            <a:ext cx="2011680" cy="603504"/>
          </a:xfrm>
          <a:prstGeom prst="roundRect">
            <a:avLst>
              <a:gd name="adj" fmla="val 12121"/>
            </a:avLst>
          </a:prstGeom>
          <a:solidFill>
            <a:srgbClr val="1C2A45"/>
          </a:solidFill>
          <a:ln w="19050">
            <a:solidFill>
              <a:srgbClr val="FBBF24"/>
            </a:solidFill>
            <a:prstDash val="solid"/>
          </a:ln>
          <a:effectLst>
            <a:outerShdw sx="100000" sy="100000" kx="0" ky="0" algn="bl" rotWithShape="0" blurRad="114300" dist="38100" dir="5400000">
              <a:srgbClr val="000000">
                <a:alpha val="35000"/>
              </a:srgbClr>
            </a:outerShdw>
          </a:effectLst>
        </p:spPr>
      </p:sp>
      <p:sp>
        <p:nvSpPr>
          <p:cNvPr id="11" name="Text 9"/>
          <p:cNvSpPr/>
          <p:nvPr/>
        </p:nvSpPr>
        <p:spPr>
          <a:xfrm>
            <a:off x="2743200" y="2542032"/>
            <a:ext cx="2011680" cy="603504"/>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BBF24"/>
                </a:solidFill>
                <a:latin typeface="Calibri" pitchFamily="34" charset="0"/>
                <a:ea typeface="Calibri" pitchFamily="34" charset="-122"/>
                <a:cs typeface="Calibri" pitchFamily="34" charset="-120"/>
              </a:rPr>
              <a:t>Complex → LLM API</a:t>
            </a:r>
            <a:endParaRPr lang="en-US" sz="1150" dirty="0"/>
          </a:p>
          <a:p>
            <a:pPr algn="ctr" indent="0" marL="0">
              <a:lnSpc>
                <a:spcPct val="100000"/>
              </a:lnSpc>
              <a:buNone/>
            </a:pPr>
            <a:r>
              <a:rPr lang="en-US" sz="1150" b="1" dirty="0">
                <a:solidFill>
                  <a:srgbClr val="FBBF24"/>
                </a:solidFill>
                <a:latin typeface="Calibri" pitchFamily="34" charset="0"/>
                <a:ea typeface="Calibri" pitchFamily="34" charset="-122"/>
                <a:cs typeface="Calibri" pitchFamily="34" charset="-120"/>
              </a:rPr>
              <a:t>unusual phrasing</a:t>
            </a:r>
            <a:endParaRPr lang="en-US" sz="1150" dirty="0"/>
          </a:p>
        </p:txBody>
      </p:sp>
      <p:sp>
        <p:nvSpPr>
          <p:cNvPr id="12" name="Shape 10"/>
          <p:cNvSpPr/>
          <p:nvPr/>
        </p:nvSpPr>
        <p:spPr>
          <a:xfrm>
            <a:off x="5029200" y="1965960"/>
            <a:ext cx="1371600" cy="822960"/>
          </a:xfrm>
          <a:prstGeom prst="roundRect">
            <a:avLst>
              <a:gd name="adj" fmla="val 8889"/>
            </a:avLst>
          </a:prstGeom>
          <a:solidFill>
            <a:srgbClr val="1C2A45"/>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3" name="Text 11"/>
          <p:cNvSpPr/>
          <p:nvPr/>
        </p:nvSpPr>
        <p:spPr>
          <a:xfrm>
            <a:off x="5029200" y="1965960"/>
            <a:ext cx="1371600" cy="82296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F8FAFC"/>
                </a:solidFill>
                <a:latin typeface="Calibri" pitchFamily="34" charset="0"/>
                <a:ea typeface="Calibri" pitchFamily="34" charset="-122"/>
                <a:cs typeface="Calibri" pitchFamily="34" charset="-120"/>
              </a:rPr>
              <a:t>Cypher</a:t>
            </a:r>
            <a:endParaRPr lang="en-US" sz="1150" dirty="0"/>
          </a:p>
          <a:p>
            <a:pPr algn="ctr" indent="0" marL="0">
              <a:lnSpc>
                <a:spcPct val="100000"/>
              </a:lnSpc>
              <a:buNone/>
            </a:pPr>
            <a:r>
              <a:rPr lang="en-US" sz="1150" b="1" dirty="0">
                <a:solidFill>
                  <a:srgbClr val="F8FAFC"/>
                </a:solidFill>
                <a:latin typeface="Calibri" pitchFamily="34" charset="0"/>
                <a:ea typeface="Calibri" pitchFamily="34" charset="-122"/>
                <a:cs typeface="Calibri" pitchFamily="34" charset="-120"/>
              </a:rPr>
              <a:t>query</a:t>
            </a:r>
            <a:endParaRPr lang="en-US" sz="1150" dirty="0"/>
          </a:p>
        </p:txBody>
      </p:sp>
      <p:sp>
        <p:nvSpPr>
          <p:cNvPr id="14" name="Shape 12"/>
          <p:cNvSpPr/>
          <p:nvPr/>
        </p:nvSpPr>
        <p:spPr>
          <a:xfrm>
            <a:off x="6629400" y="1965960"/>
            <a:ext cx="1600200" cy="822960"/>
          </a:xfrm>
          <a:prstGeom prst="roundRect">
            <a:avLst>
              <a:gd name="adj" fmla="val 8889"/>
            </a:avLst>
          </a:prstGeom>
          <a:solidFill>
            <a:srgbClr val="1C2A45"/>
          </a:solidFill>
          <a:ln w="19050">
            <a:solidFill>
              <a:srgbClr val="4ADE80"/>
            </a:solidFill>
            <a:prstDash val="solid"/>
          </a:ln>
          <a:effectLst>
            <a:outerShdw sx="100000" sy="100000" kx="0" ky="0" algn="bl" rotWithShape="0" blurRad="114300" dist="38100" dir="5400000">
              <a:srgbClr val="000000">
                <a:alpha val="35000"/>
              </a:srgbClr>
            </a:outerShdw>
          </a:effectLst>
        </p:spPr>
      </p:sp>
      <p:sp>
        <p:nvSpPr>
          <p:cNvPr id="15" name="Text 13"/>
          <p:cNvSpPr/>
          <p:nvPr/>
        </p:nvSpPr>
        <p:spPr>
          <a:xfrm>
            <a:off x="6629400" y="1965960"/>
            <a:ext cx="1600200" cy="822960"/>
          </a:xfrm>
          <a:prstGeom prst="rect">
            <a:avLst/>
          </a:prstGeom>
          <a:noFill/>
          <a:ln/>
        </p:spPr>
        <p:txBody>
          <a:bodyPr wrap="square" lIns="25400" tIns="25400" rIns="25400" bIns="25400" rtlCol="0" anchor="ctr"/>
          <a:lstStyle/>
          <a:p>
            <a:pPr algn="ctr" indent="0" marL="0">
              <a:lnSpc>
                <a:spcPct val="100000"/>
              </a:lnSpc>
              <a:buNone/>
            </a:pPr>
            <a:r>
              <a:rPr lang="en-US" sz="1150" b="1" dirty="0">
                <a:solidFill>
                  <a:srgbClr val="4ADE80"/>
                </a:solidFill>
                <a:latin typeface="Calibri" pitchFamily="34" charset="0"/>
                <a:ea typeface="Calibri" pitchFamily="34" charset="-122"/>
                <a:cs typeface="Calibri" pitchFamily="34" charset="-120"/>
              </a:rPr>
              <a:t>Neo4j</a:t>
            </a:r>
            <a:endParaRPr lang="en-US" sz="1150" dirty="0"/>
          </a:p>
          <a:p>
            <a:pPr algn="ctr" indent="0" marL="0">
              <a:lnSpc>
                <a:spcPct val="100000"/>
              </a:lnSpc>
              <a:buNone/>
            </a:pPr>
            <a:r>
              <a:rPr lang="en-US" sz="1150" b="1" dirty="0">
                <a:solidFill>
                  <a:srgbClr val="4ADE80"/>
                </a:solidFill>
                <a:latin typeface="Calibri" pitchFamily="34" charset="0"/>
                <a:ea typeface="Calibri" pitchFamily="34" charset="-122"/>
                <a:cs typeface="Calibri" pitchFamily="34" charset="-120"/>
              </a:rPr>
              <a:t>answer</a:t>
            </a:r>
            <a:endParaRPr lang="en-US" sz="1150" dirty="0"/>
          </a:p>
        </p:txBody>
      </p:sp>
      <p:sp>
        <p:nvSpPr>
          <p:cNvPr id="16" name="Shape 14"/>
          <p:cNvSpPr/>
          <p:nvPr/>
        </p:nvSpPr>
        <p:spPr>
          <a:xfrm>
            <a:off x="2148840" y="2240280"/>
            <a:ext cx="594360" cy="-137160"/>
          </a:xfrm>
          <a:prstGeom prst="line">
            <a:avLst/>
          </a:prstGeom>
          <a:noFill/>
          <a:ln w="25400">
            <a:solidFill>
              <a:srgbClr val="2DD4BF"/>
            </a:solidFill>
            <a:prstDash val="solid"/>
            <a:tailEnd type="triangle"/>
          </a:ln>
        </p:spPr>
      </p:sp>
      <p:sp>
        <p:nvSpPr>
          <p:cNvPr id="17" name="Shape 15"/>
          <p:cNvSpPr/>
          <p:nvPr/>
        </p:nvSpPr>
        <p:spPr>
          <a:xfrm>
            <a:off x="2148840" y="2514600"/>
            <a:ext cx="594360" cy="329184"/>
          </a:xfrm>
          <a:prstGeom prst="line">
            <a:avLst/>
          </a:prstGeom>
          <a:noFill/>
          <a:ln w="25400">
            <a:solidFill>
              <a:srgbClr val="2DD4BF"/>
            </a:solidFill>
            <a:prstDash val="solid"/>
            <a:tailEnd type="triangle"/>
          </a:ln>
        </p:spPr>
      </p:sp>
      <p:sp>
        <p:nvSpPr>
          <p:cNvPr id="18" name="Shape 16"/>
          <p:cNvSpPr/>
          <p:nvPr/>
        </p:nvSpPr>
        <p:spPr>
          <a:xfrm>
            <a:off x="4754880" y="2084832"/>
            <a:ext cx="274320" cy="246888"/>
          </a:xfrm>
          <a:prstGeom prst="line">
            <a:avLst/>
          </a:prstGeom>
          <a:noFill/>
          <a:ln w="25400">
            <a:solidFill>
              <a:srgbClr val="2DD4BF"/>
            </a:solidFill>
            <a:prstDash val="solid"/>
            <a:tailEnd type="triangle"/>
          </a:ln>
        </p:spPr>
      </p:sp>
      <p:sp>
        <p:nvSpPr>
          <p:cNvPr id="19" name="Shape 17"/>
          <p:cNvSpPr/>
          <p:nvPr/>
        </p:nvSpPr>
        <p:spPr>
          <a:xfrm>
            <a:off x="4754880" y="2843784"/>
            <a:ext cx="274320" cy="-420624"/>
          </a:xfrm>
          <a:prstGeom prst="line">
            <a:avLst/>
          </a:prstGeom>
          <a:noFill/>
          <a:ln w="25400">
            <a:solidFill>
              <a:srgbClr val="2DD4BF"/>
            </a:solidFill>
            <a:prstDash val="solid"/>
            <a:tailEnd type="triangle"/>
          </a:ln>
        </p:spPr>
      </p:sp>
      <p:sp>
        <p:nvSpPr>
          <p:cNvPr id="20" name="Shape 18"/>
          <p:cNvSpPr/>
          <p:nvPr/>
        </p:nvSpPr>
        <p:spPr>
          <a:xfrm>
            <a:off x="6400800" y="2377440"/>
            <a:ext cx="228600" cy="0"/>
          </a:xfrm>
          <a:prstGeom prst="line">
            <a:avLst/>
          </a:prstGeom>
          <a:noFill/>
          <a:ln w="25400">
            <a:solidFill>
              <a:srgbClr val="2DD4BF"/>
            </a:solidFill>
            <a:prstDash val="solid"/>
            <a:tailEnd type="triangle"/>
          </a:ln>
        </p:spPr>
      </p:sp>
      <p:sp>
        <p:nvSpPr>
          <p:cNvPr id="21" name="Shape 19"/>
          <p:cNvSpPr/>
          <p:nvPr/>
        </p:nvSpPr>
        <p:spPr>
          <a:xfrm>
            <a:off x="548640" y="3291840"/>
            <a:ext cx="2615184" cy="1234440"/>
          </a:xfrm>
          <a:prstGeom prst="roundRect">
            <a:avLst>
              <a:gd name="adj" fmla="val 666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2" name="Shape 20"/>
          <p:cNvSpPr/>
          <p:nvPr/>
        </p:nvSpPr>
        <p:spPr>
          <a:xfrm>
            <a:off x="777240" y="3502152"/>
            <a:ext cx="530352" cy="530352"/>
          </a:xfrm>
          <a:prstGeom prst="ellipse">
            <a:avLst/>
          </a:prstGeom>
          <a:solidFill>
            <a:srgbClr val="0E1730"/>
          </a:solidFill>
          <a:ln w="12700">
            <a:solidFill>
              <a:srgbClr val="2DD4BF">
                <a:alpha val="55000"/>
              </a:srgbClr>
            </a:solidFill>
            <a:prstDash val="solid"/>
          </a:ln>
        </p:spPr>
      </p:sp>
      <p:pic>
        <p:nvPicPr>
          <p:cNvPr id="23" name="Image 0" descr="preencoded.png">    </p:cNvPr>
          <p:cNvPicPr>
            <a:picLocks noChangeAspect="1"/>
          </p:cNvPicPr>
          <p:nvPr/>
        </p:nvPicPr>
        <p:blipFill>
          <a:blip r:embed="rId1"/>
          <a:stretch>
            <a:fillRect/>
          </a:stretch>
        </p:blipFill>
        <p:spPr>
          <a:xfrm>
            <a:off x="886968" y="3611880"/>
            <a:ext cx="310896" cy="310896"/>
          </a:xfrm>
          <a:prstGeom prst="rect">
            <a:avLst/>
          </a:prstGeom>
        </p:spPr>
      </p:pic>
      <p:sp>
        <p:nvSpPr>
          <p:cNvPr id="24" name="Text 21"/>
          <p:cNvSpPr/>
          <p:nvPr/>
        </p:nvSpPr>
        <p:spPr>
          <a:xfrm>
            <a:off x="1426464" y="3493008"/>
            <a:ext cx="1691640" cy="292608"/>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No LLM, no cost</a:t>
            </a:r>
            <a:endParaRPr lang="en-US" sz="1250" dirty="0"/>
          </a:p>
        </p:txBody>
      </p:sp>
      <p:sp>
        <p:nvSpPr>
          <p:cNvPr id="25" name="Text 22"/>
          <p:cNvSpPr/>
          <p:nvPr/>
        </p:nvSpPr>
        <p:spPr>
          <a:xfrm>
            <a:off x="1426464" y="3803904"/>
            <a:ext cx="1691640" cy="658368"/>
          </a:xfrm>
          <a:prstGeom prst="rect">
            <a:avLst/>
          </a:prstGeom>
          <a:noFill/>
          <a:ln/>
        </p:spPr>
        <p:txBody>
          <a:bodyPr wrap="square" rtlCol="0" anchor="ctr"/>
          <a:lstStyle/>
          <a:p>
            <a:pPr indent="0" marL="0">
              <a:lnSpc>
                <a:spcPct val="100000"/>
              </a:lnSpc>
              <a:buNone/>
            </a:pPr>
            <a:r>
              <a:rPr lang="en-US" sz="1050" dirty="0">
                <a:solidFill>
                  <a:srgbClr val="94A3B8"/>
                </a:solidFill>
                <a:latin typeface="Calibri" pitchFamily="34" charset="0"/>
                <a:ea typeface="Calibri" pitchFamily="34" charset="-122"/>
                <a:cs typeface="Calibri" pitchFamily="34" charset="-120"/>
              </a:rPr>
              <a:t>Simple queries never call an LLM — zero token cost.</a:t>
            </a:r>
            <a:endParaRPr lang="en-US" sz="1050" dirty="0"/>
          </a:p>
        </p:txBody>
      </p:sp>
      <p:sp>
        <p:nvSpPr>
          <p:cNvPr id="26" name="Shape 23"/>
          <p:cNvSpPr/>
          <p:nvPr/>
        </p:nvSpPr>
        <p:spPr>
          <a:xfrm>
            <a:off x="3346704" y="3291840"/>
            <a:ext cx="2615184" cy="1234440"/>
          </a:xfrm>
          <a:prstGeom prst="roundRect">
            <a:avLst>
              <a:gd name="adj" fmla="val 666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7" name="Shape 24"/>
          <p:cNvSpPr/>
          <p:nvPr/>
        </p:nvSpPr>
        <p:spPr>
          <a:xfrm>
            <a:off x="3575304" y="3502152"/>
            <a:ext cx="530352" cy="530352"/>
          </a:xfrm>
          <a:prstGeom prst="ellipse">
            <a:avLst/>
          </a:prstGeom>
          <a:solidFill>
            <a:srgbClr val="0E1730"/>
          </a:solidFill>
          <a:ln w="12700">
            <a:solidFill>
              <a:srgbClr val="2DD4BF">
                <a:alpha val="55000"/>
              </a:srgbClr>
            </a:solidFill>
            <a:prstDash val="solid"/>
          </a:ln>
        </p:spPr>
      </p:sp>
      <p:pic>
        <p:nvPicPr>
          <p:cNvPr id="28" name="Image 1" descr="preencoded.png">    </p:cNvPr>
          <p:cNvPicPr>
            <a:picLocks noChangeAspect="1"/>
          </p:cNvPicPr>
          <p:nvPr/>
        </p:nvPicPr>
        <p:blipFill>
          <a:blip r:embed="rId2"/>
          <a:stretch>
            <a:fillRect/>
          </a:stretch>
        </p:blipFill>
        <p:spPr>
          <a:xfrm>
            <a:off x="3685032" y="3611880"/>
            <a:ext cx="310896" cy="310896"/>
          </a:xfrm>
          <a:prstGeom prst="rect">
            <a:avLst/>
          </a:prstGeom>
        </p:spPr>
      </p:pic>
      <p:sp>
        <p:nvSpPr>
          <p:cNvPr id="29" name="Text 25"/>
          <p:cNvSpPr/>
          <p:nvPr/>
        </p:nvSpPr>
        <p:spPr>
          <a:xfrm>
            <a:off x="4224528" y="3493008"/>
            <a:ext cx="1691640" cy="292608"/>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Deterministic</a:t>
            </a:r>
            <a:endParaRPr lang="en-US" sz="1250" dirty="0"/>
          </a:p>
        </p:txBody>
      </p:sp>
      <p:sp>
        <p:nvSpPr>
          <p:cNvPr id="30" name="Text 26"/>
          <p:cNvSpPr/>
          <p:nvPr/>
        </p:nvSpPr>
        <p:spPr>
          <a:xfrm>
            <a:off x="4224528" y="3803904"/>
            <a:ext cx="1691640" cy="658368"/>
          </a:xfrm>
          <a:prstGeom prst="rect">
            <a:avLst/>
          </a:prstGeom>
          <a:noFill/>
          <a:ln/>
        </p:spPr>
        <p:txBody>
          <a:bodyPr wrap="square" rtlCol="0" anchor="ctr"/>
          <a:lstStyle/>
          <a:p>
            <a:pPr indent="0" marL="0">
              <a:lnSpc>
                <a:spcPct val="100000"/>
              </a:lnSpc>
              <a:buNone/>
            </a:pPr>
            <a:r>
              <a:rPr lang="en-US" sz="1050" dirty="0">
                <a:solidFill>
                  <a:srgbClr val="94A3B8"/>
                </a:solidFill>
                <a:latin typeface="Calibri" pitchFamily="34" charset="0"/>
                <a:ea typeface="Calibri" pitchFamily="34" charset="-122"/>
                <a:cs typeface="Calibri" pitchFamily="34" charset="-120"/>
              </a:rPr>
              <a:t>Same question → same Cypher. Predictable, easy to test.</a:t>
            </a:r>
            <a:endParaRPr lang="en-US" sz="1050" dirty="0"/>
          </a:p>
        </p:txBody>
      </p:sp>
      <p:sp>
        <p:nvSpPr>
          <p:cNvPr id="31" name="Shape 27"/>
          <p:cNvSpPr/>
          <p:nvPr/>
        </p:nvSpPr>
        <p:spPr>
          <a:xfrm>
            <a:off x="6144768" y="3291840"/>
            <a:ext cx="2615184" cy="1234440"/>
          </a:xfrm>
          <a:prstGeom prst="roundRect">
            <a:avLst>
              <a:gd name="adj" fmla="val 666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32" name="Shape 28"/>
          <p:cNvSpPr/>
          <p:nvPr/>
        </p:nvSpPr>
        <p:spPr>
          <a:xfrm>
            <a:off x="6373368" y="3502152"/>
            <a:ext cx="530352" cy="530352"/>
          </a:xfrm>
          <a:prstGeom prst="ellipse">
            <a:avLst/>
          </a:prstGeom>
          <a:solidFill>
            <a:srgbClr val="0E1730"/>
          </a:solidFill>
          <a:ln w="12700">
            <a:solidFill>
              <a:srgbClr val="2DD4BF">
                <a:alpha val="55000"/>
              </a:srgbClr>
            </a:solidFill>
            <a:prstDash val="solid"/>
          </a:ln>
        </p:spPr>
      </p:sp>
      <p:pic>
        <p:nvPicPr>
          <p:cNvPr id="33" name="Image 2" descr="preencoded.png">    </p:cNvPr>
          <p:cNvPicPr>
            <a:picLocks noChangeAspect="1"/>
          </p:cNvPicPr>
          <p:nvPr/>
        </p:nvPicPr>
        <p:blipFill>
          <a:blip r:embed="rId3"/>
          <a:stretch>
            <a:fillRect/>
          </a:stretch>
        </p:blipFill>
        <p:spPr>
          <a:xfrm>
            <a:off x="6483096" y="3611880"/>
            <a:ext cx="310896" cy="310896"/>
          </a:xfrm>
          <a:prstGeom prst="rect">
            <a:avLst/>
          </a:prstGeom>
        </p:spPr>
      </p:pic>
      <p:sp>
        <p:nvSpPr>
          <p:cNvPr id="34" name="Text 29"/>
          <p:cNvSpPr/>
          <p:nvPr/>
        </p:nvSpPr>
        <p:spPr>
          <a:xfrm>
            <a:off x="7022592" y="3493008"/>
            <a:ext cx="1691640" cy="292608"/>
          </a:xfrm>
          <a:prstGeom prst="rect">
            <a:avLst/>
          </a:prstGeom>
          <a:noFill/>
          <a:ln/>
        </p:spPr>
        <p:txBody>
          <a:bodyPr wrap="square" rtlCol="0" anchor="ctr"/>
          <a:lstStyle/>
          <a:p>
            <a:pPr indent="0" marL="0">
              <a:buNone/>
            </a:pPr>
            <a:r>
              <a:rPr lang="en-US" sz="1250" b="1" dirty="0">
                <a:solidFill>
                  <a:srgbClr val="F8FAFC"/>
                </a:solidFill>
                <a:latin typeface="Arial" pitchFamily="34" charset="0"/>
                <a:ea typeface="Arial" pitchFamily="34" charset="-122"/>
                <a:cs typeface="Arial" pitchFamily="34" charset="-120"/>
              </a:rPr>
              <a:t>Read-only &amp; safe</a:t>
            </a:r>
            <a:endParaRPr lang="en-US" sz="1250" dirty="0"/>
          </a:p>
        </p:txBody>
      </p:sp>
      <p:sp>
        <p:nvSpPr>
          <p:cNvPr id="35" name="Text 30"/>
          <p:cNvSpPr/>
          <p:nvPr/>
        </p:nvSpPr>
        <p:spPr>
          <a:xfrm>
            <a:off x="7022592" y="3803904"/>
            <a:ext cx="1691640" cy="658368"/>
          </a:xfrm>
          <a:prstGeom prst="rect">
            <a:avLst/>
          </a:prstGeom>
          <a:noFill/>
          <a:ln/>
        </p:spPr>
        <p:txBody>
          <a:bodyPr wrap="square" rtlCol="0" anchor="ctr"/>
          <a:lstStyle/>
          <a:p>
            <a:pPr indent="0" marL="0">
              <a:lnSpc>
                <a:spcPct val="100000"/>
              </a:lnSpc>
              <a:buNone/>
            </a:pPr>
            <a:r>
              <a:rPr lang="en-US" sz="1050" dirty="0">
                <a:solidFill>
                  <a:srgbClr val="94A3B8"/>
                </a:solidFill>
                <a:latin typeface="Calibri" pitchFamily="34" charset="0"/>
                <a:ea typeface="Calibri" pitchFamily="34" charset="-122"/>
                <a:cs typeface="Calibri" pitchFamily="34" charset="-120"/>
              </a:rPr>
              <a:t>Patterns are bounded — no surprise or destructive queries.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1"/>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411480"/>
            <a:ext cx="8229600" cy="54864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Multi-layer security</a:t>
            </a:r>
            <a:endParaRPr lang="en-US" sz="3400" dirty="0"/>
          </a:p>
        </p:txBody>
      </p:sp>
      <p:sp>
        <p:nvSpPr>
          <p:cNvPr id="5" name="Text 3"/>
          <p:cNvSpPr/>
          <p:nvPr/>
        </p:nvSpPr>
        <p:spPr>
          <a:xfrm>
            <a:off x="548640" y="1024128"/>
            <a:ext cx="82296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Defense in depth — an AI that can read your graph and physically can't harm it.</a:t>
            </a:r>
            <a:endParaRPr lang="en-US" sz="1600" dirty="0"/>
          </a:p>
        </p:txBody>
      </p:sp>
      <p:sp>
        <p:nvSpPr>
          <p:cNvPr id="6" name="Shape 4"/>
          <p:cNvSpPr/>
          <p:nvPr/>
        </p:nvSpPr>
        <p:spPr>
          <a:xfrm>
            <a:off x="548640" y="1783080"/>
            <a:ext cx="3931920" cy="1325880"/>
          </a:xfrm>
          <a:prstGeom prst="roundRect">
            <a:avLst>
              <a:gd name="adj" fmla="val 620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7" name="Shape 5"/>
          <p:cNvSpPr/>
          <p:nvPr/>
        </p:nvSpPr>
        <p:spPr>
          <a:xfrm>
            <a:off x="822960" y="2167128"/>
            <a:ext cx="566928" cy="566928"/>
          </a:xfrm>
          <a:prstGeom prst="ellipse">
            <a:avLst/>
          </a:prstGeom>
          <a:solidFill>
            <a:srgbClr val="0E1730"/>
          </a:solidFill>
          <a:ln w="12700">
            <a:solidFill>
              <a:srgbClr val="2DD4BF">
                <a:alpha val="60000"/>
              </a:srgbClr>
            </a:solidFill>
            <a:prstDash val="solid"/>
          </a:ln>
        </p:spPr>
      </p:sp>
      <p:pic>
        <p:nvPicPr>
          <p:cNvPr id="8" name="Image 0" descr="preencoded.png">    </p:cNvPr>
          <p:cNvPicPr>
            <a:picLocks noChangeAspect="1"/>
          </p:cNvPicPr>
          <p:nvPr/>
        </p:nvPicPr>
        <p:blipFill>
          <a:blip r:embed="rId1"/>
          <a:stretch>
            <a:fillRect/>
          </a:stretch>
        </p:blipFill>
        <p:spPr>
          <a:xfrm>
            <a:off x="960120" y="2304288"/>
            <a:ext cx="292608" cy="292608"/>
          </a:xfrm>
          <a:prstGeom prst="rect">
            <a:avLst/>
          </a:prstGeom>
        </p:spPr>
      </p:pic>
      <p:sp>
        <p:nvSpPr>
          <p:cNvPr id="9" name="Text 6"/>
          <p:cNvSpPr/>
          <p:nvPr/>
        </p:nvSpPr>
        <p:spPr>
          <a:xfrm>
            <a:off x="1572768" y="1984248"/>
            <a:ext cx="2651760" cy="201168"/>
          </a:xfrm>
          <a:prstGeom prst="rect">
            <a:avLst/>
          </a:prstGeom>
          <a:noFill/>
          <a:ln/>
        </p:spPr>
        <p:txBody>
          <a:bodyPr wrap="square" rtlCol="0" anchor="ctr"/>
          <a:lstStyle/>
          <a:p>
            <a:pPr indent="0" marL="0">
              <a:buNone/>
            </a:pPr>
            <a:r>
              <a:rPr lang="en-US" sz="900" b="1" spc="200" kern="0" dirty="0">
                <a:solidFill>
                  <a:srgbClr val="2DD4BF"/>
                </a:solidFill>
                <a:latin typeface="Arial" pitchFamily="34" charset="0"/>
                <a:ea typeface="Arial" pitchFamily="34" charset="-122"/>
                <a:cs typeface="Arial" pitchFamily="34" charset="-120"/>
              </a:rPr>
              <a:t>LAYER 01</a:t>
            </a:r>
            <a:endParaRPr lang="en-US" sz="900" dirty="0"/>
          </a:p>
        </p:txBody>
      </p:sp>
      <p:sp>
        <p:nvSpPr>
          <p:cNvPr id="10" name="Text 7"/>
          <p:cNvSpPr/>
          <p:nvPr/>
        </p:nvSpPr>
        <p:spPr>
          <a:xfrm>
            <a:off x="1572768" y="2185416"/>
            <a:ext cx="2743200" cy="310896"/>
          </a:xfrm>
          <a:prstGeom prst="rect">
            <a:avLst/>
          </a:prstGeom>
          <a:noFill/>
          <a:ln/>
        </p:spPr>
        <p:txBody>
          <a:bodyPr wrap="square" rtlCol="0" anchor="ctr"/>
          <a:lstStyle/>
          <a:p>
            <a:pPr indent="0" marL="0">
              <a:buNone/>
            </a:pPr>
            <a:r>
              <a:rPr lang="en-US" sz="1500" b="1" dirty="0">
                <a:solidFill>
                  <a:srgbClr val="F8FAFC"/>
                </a:solidFill>
                <a:latin typeface="Arial" pitchFamily="34" charset="0"/>
                <a:ea typeface="Arial" pitchFamily="34" charset="-122"/>
                <a:cs typeface="Arial" pitchFamily="34" charset="-120"/>
              </a:rPr>
              <a:t>Keyword &amp; injection scan</a:t>
            </a:r>
            <a:endParaRPr lang="en-US" sz="1500" dirty="0"/>
          </a:p>
        </p:txBody>
      </p:sp>
      <p:sp>
        <p:nvSpPr>
          <p:cNvPr id="11" name="Text 8"/>
          <p:cNvSpPr/>
          <p:nvPr/>
        </p:nvSpPr>
        <p:spPr>
          <a:xfrm>
            <a:off x="1572768" y="2514600"/>
            <a:ext cx="2743200" cy="530352"/>
          </a:xfrm>
          <a:prstGeom prst="rect">
            <a:avLst/>
          </a:prstGeom>
          <a:noFill/>
          <a:ln/>
        </p:spPr>
        <p:txBody>
          <a:bodyPr wrap="square" rtlCol="0" anchor="ctr"/>
          <a:lstStyle/>
          <a:p>
            <a:pPr indent="0" marL="0">
              <a:lnSpc>
                <a:spcPct val="100000"/>
              </a:lnSpc>
              <a:buNone/>
            </a:pPr>
            <a:r>
              <a:rPr lang="en-US" sz="1050" dirty="0">
                <a:solidFill>
                  <a:srgbClr val="94A3B8"/>
                </a:solidFill>
                <a:latin typeface="Calibri" pitchFamily="34" charset="0"/>
                <a:ea typeface="Calibri" pitchFamily="34" charset="-122"/>
                <a:cs typeface="Calibri" pitchFamily="34" charset="-120"/>
              </a:rPr>
              <a:t>Incoming questions are scanned for dangerous keywords and prompt-injection patterns before anything runs.</a:t>
            </a:r>
            <a:endParaRPr lang="en-US" sz="1050" dirty="0"/>
          </a:p>
        </p:txBody>
      </p:sp>
      <p:sp>
        <p:nvSpPr>
          <p:cNvPr id="12" name="Shape 9"/>
          <p:cNvSpPr/>
          <p:nvPr/>
        </p:nvSpPr>
        <p:spPr>
          <a:xfrm>
            <a:off x="4663440" y="1783080"/>
            <a:ext cx="3931920" cy="1325880"/>
          </a:xfrm>
          <a:prstGeom prst="roundRect">
            <a:avLst>
              <a:gd name="adj" fmla="val 620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3" name="Shape 10"/>
          <p:cNvSpPr/>
          <p:nvPr/>
        </p:nvSpPr>
        <p:spPr>
          <a:xfrm>
            <a:off x="4937760" y="2167128"/>
            <a:ext cx="566928" cy="566928"/>
          </a:xfrm>
          <a:prstGeom prst="ellipse">
            <a:avLst/>
          </a:prstGeom>
          <a:solidFill>
            <a:srgbClr val="0E1730"/>
          </a:solidFill>
          <a:ln w="12700">
            <a:solidFill>
              <a:srgbClr val="2DD4BF">
                <a:alpha val="60000"/>
              </a:srgbClr>
            </a:solidFill>
            <a:prstDash val="solid"/>
          </a:ln>
        </p:spPr>
      </p:sp>
      <p:pic>
        <p:nvPicPr>
          <p:cNvPr id="14" name="Image 1" descr="preencoded.png">    </p:cNvPr>
          <p:cNvPicPr>
            <a:picLocks noChangeAspect="1"/>
          </p:cNvPicPr>
          <p:nvPr/>
        </p:nvPicPr>
        <p:blipFill>
          <a:blip r:embed="rId2"/>
          <a:stretch>
            <a:fillRect/>
          </a:stretch>
        </p:blipFill>
        <p:spPr>
          <a:xfrm>
            <a:off x="5074920" y="2304288"/>
            <a:ext cx="292608" cy="292608"/>
          </a:xfrm>
          <a:prstGeom prst="rect">
            <a:avLst/>
          </a:prstGeom>
        </p:spPr>
      </p:pic>
      <p:sp>
        <p:nvSpPr>
          <p:cNvPr id="15" name="Text 11"/>
          <p:cNvSpPr/>
          <p:nvPr/>
        </p:nvSpPr>
        <p:spPr>
          <a:xfrm>
            <a:off x="5687568" y="1984248"/>
            <a:ext cx="2651760" cy="201168"/>
          </a:xfrm>
          <a:prstGeom prst="rect">
            <a:avLst/>
          </a:prstGeom>
          <a:noFill/>
          <a:ln/>
        </p:spPr>
        <p:txBody>
          <a:bodyPr wrap="square" rtlCol="0" anchor="ctr"/>
          <a:lstStyle/>
          <a:p>
            <a:pPr indent="0" marL="0">
              <a:buNone/>
            </a:pPr>
            <a:r>
              <a:rPr lang="en-US" sz="900" b="1" spc="200" kern="0" dirty="0">
                <a:solidFill>
                  <a:srgbClr val="2DD4BF"/>
                </a:solidFill>
                <a:latin typeface="Arial" pitchFamily="34" charset="0"/>
                <a:ea typeface="Arial" pitchFamily="34" charset="-122"/>
                <a:cs typeface="Arial" pitchFamily="34" charset="-120"/>
              </a:rPr>
              <a:t>LAYER 02</a:t>
            </a:r>
            <a:endParaRPr lang="en-US" sz="900" dirty="0"/>
          </a:p>
        </p:txBody>
      </p:sp>
      <p:sp>
        <p:nvSpPr>
          <p:cNvPr id="16" name="Text 12"/>
          <p:cNvSpPr/>
          <p:nvPr/>
        </p:nvSpPr>
        <p:spPr>
          <a:xfrm>
            <a:off x="5687568" y="2185416"/>
            <a:ext cx="2743200" cy="310896"/>
          </a:xfrm>
          <a:prstGeom prst="rect">
            <a:avLst/>
          </a:prstGeom>
          <a:noFill/>
          <a:ln/>
        </p:spPr>
        <p:txBody>
          <a:bodyPr wrap="square" rtlCol="0" anchor="ctr"/>
          <a:lstStyle/>
          <a:p>
            <a:pPr indent="0" marL="0">
              <a:buNone/>
            </a:pPr>
            <a:r>
              <a:rPr lang="en-US" sz="1500" b="1" dirty="0">
                <a:solidFill>
                  <a:srgbClr val="F8FAFC"/>
                </a:solidFill>
                <a:latin typeface="Arial" pitchFamily="34" charset="0"/>
                <a:ea typeface="Arial" pitchFamily="34" charset="-122"/>
                <a:cs typeface="Arial" pitchFamily="34" charset="-120"/>
              </a:rPr>
              <a:t>Read-only enforcement</a:t>
            </a:r>
            <a:endParaRPr lang="en-US" sz="1500" dirty="0"/>
          </a:p>
        </p:txBody>
      </p:sp>
      <p:sp>
        <p:nvSpPr>
          <p:cNvPr id="17" name="Text 13"/>
          <p:cNvSpPr/>
          <p:nvPr/>
        </p:nvSpPr>
        <p:spPr>
          <a:xfrm>
            <a:off x="5687568" y="2514600"/>
            <a:ext cx="2743200" cy="530352"/>
          </a:xfrm>
          <a:prstGeom prst="rect">
            <a:avLst/>
          </a:prstGeom>
          <a:noFill/>
          <a:ln/>
        </p:spPr>
        <p:txBody>
          <a:bodyPr wrap="square" rtlCol="0" anchor="ctr"/>
          <a:lstStyle/>
          <a:p>
            <a:pPr indent="0" marL="0">
              <a:lnSpc>
                <a:spcPct val="100000"/>
              </a:lnSpc>
              <a:buNone/>
            </a:pPr>
            <a:r>
              <a:rPr lang="en-US" sz="1050" dirty="0">
                <a:solidFill>
                  <a:srgbClr val="94A3B8"/>
                </a:solidFill>
                <a:latin typeface="Calibri" pitchFamily="34" charset="0"/>
                <a:ea typeface="Calibri" pitchFamily="34" charset="-122"/>
                <a:cs typeface="Calibri" pitchFamily="34" charset="-120"/>
              </a:rPr>
              <a:t>Only MATCH / RETURN traversals execute. CREATE, MERGE, SET, DELETE and DROP are blocked at the server.</a:t>
            </a:r>
            <a:endParaRPr lang="en-US" sz="1050" dirty="0"/>
          </a:p>
        </p:txBody>
      </p:sp>
      <p:sp>
        <p:nvSpPr>
          <p:cNvPr id="18" name="Shape 14"/>
          <p:cNvSpPr/>
          <p:nvPr/>
        </p:nvSpPr>
        <p:spPr>
          <a:xfrm>
            <a:off x="548640" y="3200400"/>
            <a:ext cx="3931920" cy="1325880"/>
          </a:xfrm>
          <a:prstGeom prst="roundRect">
            <a:avLst>
              <a:gd name="adj" fmla="val 620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9" name="Shape 15"/>
          <p:cNvSpPr/>
          <p:nvPr/>
        </p:nvSpPr>
        <p:spPr>
          <a:xfrm>
            <a:off x="822960" y="3584448"/>
            <a:ext cx="566928" cy="566928"/>
          </a:xfrm>
          <a:prstGeom prst="ellipse">
            <a:avLst/>
          </a:prstGeom>
          <a:solidFill>
            <a:srgbClr val="0E1730"/>
          </a:solidFill>
          <a:ln w="12700">
            <a:solidFill>
              <a:srgbClr val="2DD4BF">
                <a:alpha val="60000"/>
              </a:srgbClr>
            </a:solidFill>
            <a:prstDash val="solid"/>
          </a:ln>
        </p:spPr>
      </p:sp>
      <p:pic>
        <p:nvPicPr>
          <p:cNvPr id="20" name="Image 2" descr="preencoded.png">    </p:cNvPr>
          <p:cNvPicPr>
            <a:picLocks noChangeAspect="1"/>
          </p:cNvPicPr>
          <p:nvPr/>
        </p:nvPicPr>
        <p:blipFill>
          <a:blip r:embed="rId3"/>
          <a:stretch>
            <a:fillRect/>
          </a:stretch>
        </p:blipFill>
        <p:spPr>
          <a:xfrm>
            <a:off x="960120" y="3721608"/>
            <a:ext cx="292608" cy="292608"/>
          </a:xfrm>
          <a:prstGeom prst="rect">
            <a:avLst/>
          </a:prstGeom>
        </p:spPr>
      </p:pic>
      <p:sp>
        <p:nvSpPr>
          <p:cNvPr id="21" name="Text 16"/>
          <p:cNvSpPr/>
          <p:nvPr/>
        </p:nvSpPr>
        <p:spPr>
          <a:xfrm>
            <a:off x="1572768" y="3401568"/>
            <a:ext cx="2651760" cy="201168"/>
          </a:xfrm>
          <a:prstGeom prst="rect">
            <a:avLst/>
          </a:prstGeom>
          <a:noFill/>
          <a:ln/>
        </p:spPr>
        <p:txBody>
          <a:bodyPr wrap="square" rtlCol="0" anchor="ctr"/>
          <a:lstStyle/>
          <a:p>
            <a:pPr indent="0" marL="0">
              <a:buNone/>
            </a:pPr>
            <a:r>
              <a:rPr lang="en-US" sz="900" b="1" spc="200" kern="0" dirty="0">
                <a:solidFill>
                  <a:srgbClr val="2DD4BF"/>
                </a:solidFill>
                <a:latin typeface="Arial" pitchFamily="34" charset="0"/>
                <a:ea typeface="Arial" pitchFamily="34" charset="-122"/>
                <a:cs typeface="Arial" pitchFamily="34" charset="-120"/>
              </a:rPr>
              <a:t>LAYER 03</a:t>
            </a:r>
            <a:endParaRPr lang="en-US" sz="900" dirty="0"/>
          </a:p>
        </p:txBody>
      </p:sp>
      <p:sp>
        <p:nvSpPr>
          <p:cNvPr id="22" name="Text 17"/>
          <p:cNvSpPr/>
          <p:nvPr/>
        </p:nvSpPr>
        <p:spPr>
          <a:xfrm>
            <a:off x="1572768" y="3602736"/>
            <a:ext cx="2743200" cy="310896"/>
          </a:xfrm>
          <a:prstGeom prst="rect">
            <a:avLst/>
          </a:prstGeom>
          <a:noFill/>
          <a:ln/>
        </p:spPr>
        <p:txBody>
          <a:bodyPr wrap="square" rtlCol="0" anchor="ctr"/>
          <a:lstStyle/>
          <a:p>
            <a:pPr indent="0" marL="0">
              <a:buNone/>
            </a:pPr>
            <a:r>
              <a:rPr lang="en-US" sz="1500" b="1" dirty="0">
                <a:solidFill>
                  <a:srgbClr val="F8FAFC"/>
                </a:solidFill>
                <a:latin typeface="Arial" pitchFamily="34" charset="0"/>
                <a:ea typeface="Arial" pitchFamily="34" charset="-122"/>
                <a:cs typeface="Arial" pitchFamily="34" charset="-120"/>
              </a:rPr>
              <a:t>Abuse throttling</a:t>
            </a:r>
            <a:endParaRPr lang="en-US" sz="1500" dirty="0"/>
          </a:p>
        </p:txBody>
      </p:sp>
      <p:sp>
        <p:nvSpPr>
          <p:cNvPr id="23" name="Text 18"/>
          <p:cNvSpPr/>
          <p:nvPr/>
        </p:nvSpPr>
        <p:spPr>
          <a:xfrm>
            <a:off x="1572768" y="3931920"/>
            <a:ext cx="2743200" cy="530352"/>
          </a:xfrm>
          <a:prstGeom prst="rect">
            <a:avLst/>
          </a:prstGeom>
          <a:noFill/>
          <a:ln/>
        </p:spPr>
        <p:txBody>
          <a:bodyPr wrap="square" rtlCol="0" anchor="ctr"/>
          <a:lstStyle/>
          <a:p>
            <a:pPr indent="0" marL="0">
              <a:lnSpc>
                <a:spcPct val="100000"/>
              </a:lnSpc>
              <a:buNone/>
            </a:pPr>
            <a:r>
              <a:rPr lang="en-US" sz="1050" dirty="0">
                <a:solidFill>
                  <a:srgbClr val="94A3B8"/>
                </a:solidFill>
                <a:latin typeface="Calibri" pitchFamily="34" charset="0"/>
                <a:ea typeface="Calibri" pitchFamily="34" charset="-122"/>
                <a:cs typeface="Calibri" pitchFamily="34" charset="-120"/>
              </a:rPr>
              <a:t>Failed and blocked attempts are capped with retry limits and rate limiting — the guard can't be brute-forced.</a:t>
            </a:r>
            <a:endParaRPr lang="en-US" sz="1050" dirty="0"/>
          </a:p>
        </p:txBody>
      </p:sp>
      <p:sp>
        <p:nvSpPr>
          <p:cNvPr id="24" name="Shape 19"/>
          <p:cNvSpPr/>
          <p:nvPr/>
        </p:nvSpPr>
        <p:spPr>
          <a:xfrm>
            <a:off x="4663440" y="3200400"/>
            <a:ext cx="3931920" cy="1325880"/>
          </a:xfrm>
          <a:prstGeom prst="roundRect">
            <a:avLst>
              <a:gd name="adj" fmla="val 620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5" name="Shape 20"/>
          <p:cNvSpPr/>
          <p:nvPr/>
        </p:nvSpPr>
        <p:spPr>
          <a:xfrm>
            <a:off x="4937760" y="3584448"/>
            <a:ext cx="566928" cy="566928"/>
          </a:xfrm>
          <a:prstGeom prst="ellipse">
            <a:avLst/>
          </a:prstGeom>
          <a:solidFill>
            <a:srgbClr val="0E1730"/>
          </a:solidFill>
          <a:ln w="12700">
            <a:solidFill>
              <a:srgbClr val="2DD4BF">
                <a:alpha val="60000"/>
              </a:srgbClr>
            </a:solidFill>
            <a:prstDash val="solid"/>
          </a:ln>
        </p:spPr>
      </p:sp>
      <p:pic>
        <p:nvPicPr>
          <p:cNvPr id="26" name="Image 3" descr="preencoded.png">    </p:cNvPr>
          <p:cNvPicPr>
            <a:picLocks noChangeAspect="1"/>
          </p:cNvPicPr>
          <p:nvPr/>
        </p:nvPicPr>
        <p:blipFill>
          <a:blip r:embed="rId4"/>
          <a:stretch>
            <a:fillRect/>
          </a:stretch>
        </p:blipFill>
        <p:spPr>
          <a:xfrm>
            <a:off x="5074920" y="3721608"/>
            <a:ext cx="292608" cy="292608"/>
          </a:xfrm>
          <a:prstGeom prst="rect">
            <a:avLst/>
          </a:prstGeom>
        </p:spPr>
      </p:pic>
      <p:sp>
        <p:nvSpPr>
          <p:cNvPr id="27" name="Text 21"/>
          <p:cNvSpPr/>
          <p:nvPr/>
        </p:nvSpPr>
        <p:spPr>
          <a:xfrm>
            <a:off x="5687568" y="3401568"/>
            <a:ext cx="2651760" cy="201168"/>
          </a:xfrm>
          <a:prstGeom prst="rect">
            <a:avLst/>
          </a:prstGeom>
          <a:noFill/>
          <a:ln/>
        </p:spPr>
        <p:txBody>
          <a:bodyPr wrap="square" rtlCol="0" anchor="ctr"/>
          <a:lstStyle/>
          <a:p>
            <a:pPr indent="0" marL="0">
              <a:buNone/>
            </a:pPr>
            <a:r>
              <a:rPr lang="en-US" sz="900" b="1" spc="200" kern="0" dirty="0">
                <a:solidFill>
                  <a:srgbClr val="2DD4BF"/>
                </a:solidFill>
                <a:latin typeface="Arial" pitchFamily="34" charset="0"/>
                <a:ea typeface="Arial" pitchFamily="34" charset="-122"/>
                <a:cs typeface="Arial" pitchFamily="34" charset="-120"/>
              </a:rPr>
              <a:t>LAYER 04</a:t>
            </a:r>
            <a:endParaRPr lang="en-US" sz="900" dirty="0"/>
          </a:p>
        </p:txBody>
      </p:sp>
      <p:sp>
        <p:nvSpPr>
          <p:cNvPr id="28" name="Text 22"/>
          <p:cNvSpPr/>
          <p:nvPr/>
        </p:nvSpPr>
        <p:spPr>
          <a:xfrm>
            <a:off x="5687568" y="3602736"/>
            <a:ext cx="2743200" cy="310896"/>
          </a:xfrm>
          <a:prstGeom prst="rect">
            <a:avLst/>
          </a:prstGeom>
          <a:noFill/>
          <a:ln/>
        </p:spPr>
        <p:txBody>
          <a:bodyPr wrap="square" rtlCol="0" anchor="ctr"/>
          <a:lstStyle/>
          <a:p>
            <a:pPr indent="0" marL="0">
              <a:buNone/>
            </a:pPr>
            <a:r>
              <a:rPr lang="en-US" sz="1500" b="1" dirty="0">
                <a:solidFill>
                  <a:srgbClr val="F8FAFC"/>
                </a:solidFill>
                <a:latin typeface="Arial" pitchFamily="34" charset="0"/>
                <a:ea typeface="Arial" pitchFamily="34" charset="-122"/>
                <a:cs typeface="Arial" pitchFamily="34" charset="-120"/>
              </a:rPr>
              <a:t>Transparent &amp; auditable</a:t>
            </a:r>
            <a:endParaRPr lang="en-US" sz="1500" dirty="0"/>
          </a:p>
        </p:txBody>
      </p:sp>
      <p:sp>
        <p:nvSpPr>
          <p:cNvPr id="29" name="Text 23"/>
          <p:cNvSpPr/>
          <p:nvPr/>
        </p:nvSpPr>
        <p:spPr>
          <a:xfrm>
            <a:off x="5687568" y="3931920"/>
            <a:ext cx="2743200" cy="530352"/>
          </a:xfrm>
          <a:prstGeom prst="rect">
            <a:avLst/>
          </a:prstGeom>
          <a:noFill/>
          <a:ln/>
        </p:spPr>
        <p:txBody>
          <a:bodyPr wrap="square" rtlCol="0" anchor="ctr"/>
          <a:lstStyle/>
          <a:p>
            <a:pPr indent="0" marL="0">
              <a:lnSpc>
                <a:spcPct val="100000"/>
              </a:lnSpc>
              <a:buNone/>
            </a:pPr>
            <a:r>
              <a:rPr lang="en-US" sz="1050" dirty="0">
                <a:solidFill>
                  <a:srgbClr val="94A3B8"/>
                </a:solidFill>
                <a:latin typeface="Calibri" pitchFamily="34" charset="0"/>
                <a:ea typeface="Calibri" pitchFamily="34" charset="-122"/>
                <a:cs typeface="Calibri" pitchFamily="34" charset="-120"/>
              </a:rPr>
              <a:t>Every answer ships with the exact Cypher it ran — so nothing is ever a black box.</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411480"/>
            <a:ext cx="7315200" cy="54864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What we built</a:t>
            </a:r>
            <a:endParaRPr lang="en-US" sz="3400" dirty="0"/>
          </a:p>
        </p:txBody>
      </p:sp>
      <p:sp>
        <p:nvSpPr>
          <p:cNvPr id="5" name="Text 3"/>
          <p:cNvSpPr/>
          <p:nvPr/>
        </p:nvSpPr>
        <p:spPr>
          <a:xfrm>
            <a:off x="548640" y="1024128"/>
            <a:ext cx="82296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 working end-to-end demo — in VS Code and in our own visual graph UI.</a:t>
            </a:r>
            <a:endParaRPr lang="en-US" sz="1600" dirty="0"/>
          </a:p>
        </p:txBody>
      </p:sp>
      <p:sp>
        <p:nvSpPr>
          <p:cNvPr id="6" name="Text 4"/>
          <p:cNvSpPr/>
          <p:nvPr/>
        </p:nvSpPr>
        <p:spPr>
          <a:xfrm>
            <a:off x="548640" y="1691640"/>
            <a:ext cx="4572000" cy="274320"/>
          </a:xfrm>
          <a:prstGeom prst="rect">
            <a:avLst/>
          </a:prstGeom>
          <a:noFill/>
          <a:ln/>
        </p:spPr>
        <p:txBody>
          <a:bodyPr wrap="square" rtlCol="0" anchor="ctr"/>
          <a:lstStyle/>
          <a:p>
            <a:pPr indent="0" marL="0">
              <a:buNone/>
            </a:pPr>
            <a:r>
              <a:rPr lang="en-US" sz="1100" b="1" spc="200" kern="0" dirty="0">
                <a:solidFill>
                  <a:srgbClr val="2DD4BF"/>
                </a:solidFill>
                <a:latin typeface="Arial" pitchFamily="34" charset="0"/>
                <a:ea typeface="Arial" pitchFamily="34" charset="-122"/>
                <a:cs typeface="Arial" pitchFamily="34" charset="-120"/>
              </a:rPr>
              <a:t>ASK ANYTHING</a:t>
            </a:r>
            <a:endParaRPr lang="en-US" sz="1100" dirty="0"/>
          </a:p>
        </p:txBody>
      </p:sp>
      <p:sp>
        <p:nvSpPr>
          <p:cNvPr id="7" name="Shape 5"/>
          <p:cNvSpPr/>
          <p:nvPr/>
        </p:nvSpPr>
        <p:spPr>
          <a:xfrm>
            <a:off x="548640" y="2057400"/>
            <a:ext cx="4572000" cy="548640"/>
          </a:xfrm>
          <a:prstGeom prst="roundRect">
            <a:avLst>
              <a:gd name="adj" fmla="val 11667"/>
            </a:avLst>
          </a:prstGeom>
          <a:solidFill>
            <a:srgbClr val="162133"/>
          </a:solidFill>
          <a:ln w="12700">
            <a:solidFill>
              <a:srgbClr val="1C2A45"/>
            </a:solidFill>
            <a:prstDash val="solid"/>
          </a:ln>
        </p:spPr>
      </p:sp>
      <p:pic>
        <p:nvPicPr>
          <p:cNvPr id="8" name="Image 0" descr="preencoded.png">    </p:cNvPr>
          <p:cNvPicPr>
            <a:picLocks noChangeAspect="1"/>
          </p:cNvPicPr>
          <p:nvPr/>
        </p:nvPicPr>
        <p:blipFill>
          <a:blip r:embed="rId1"/>
          <a:stretch>
            <a:fillRect/>
          </a:stretch>
        </p:blipFill>
        <p:spPr>
          <a:xfrm>
            <a:off x="749808" y="2212848"/>
            <a:ext cx="237744" cy="237744"/>
          </a:xfrm>
          <a:prstGeom prst="rect">
            <a:avLst/>
          </a:prstGeom>
        </p:spPr>
      </p:pic>
      <p:sp>
        <p:nvSpPr>
          <p:cNvPr id="9" name="Text 6"/>
          <p:cNvSpPr/>
          <p:nvPr/>
        </p:nvSpPr>
        <p:spPr>
          <a:xfrm>
            <a:off x="1143000" y="2057400"/>
            <a:ext cx="3886200" cy="548640"/>
          </a:xfrm>
          <a:prstGeom prst="rect">
            <a:avLst/>
          </a:prstGeom>
          <a:noFill/>
          <a:ln/>
        </p:spPr>
        <p:txBody>
          <a:bodyPr wrap="square" lIns="0" tIns="0" rIns="0" bIns="0" rtlCol="0" anchor="ctr"/>
          <a:lstStyle/>
          <a:p>
            <a:pPr indent="0" marL="0">
              <a:buNone/>
            </a:pPr>
            <a:r>
              <a:rPr lang="en-US" sz="1250" dirty="0">
                <a:solidFill>
                  <a:srgbClr val="F8FAFC"/>
                </a:solidFill>
                <a:latin typeface="Calibri" pitchFamily="34" charset="0"/>
                <a:ea typeface="Calibri" pitchFamily="34" charset="-122"/>
                <a:cs typeface="Calibri" pitchFamily="34" charset="-120"/>
              </a:rPr>
              <a:t>“Who is my manager’s manager’s manager?”</a:t>
            </a:r>
            <a:endParaRPr lang="en-US" sz="1250" dirty="0"/>
          </a:p>
        </p:txBody>
      </p:sp>
      <p:sp>
        <p:nvSpPr>
          <p:cNvPr id="10" name="Shape 7"/>
          <p:cNvSpPr/>
          <p:nvPr/>
        </p:nvSpPr>
        <p:spPr>
          <a:xfrm>
            <a:off x="548640" y="2697480"/>
            <a:ext cx="4572000" cy="548640"/>
          </a:xfrm>
          <a:prstGeom prst="roundRect">
            <a:avLst>
              <a:gd name="adj" fmla="val 11667"/>
            </a:avLst>
          </a:prstGeom>
          <a:solidFill>
            <a:srgbClr val="162133"/>
          </a:solidFill>
          <a:ln w="12700">
            <a:solidFill>
              <a:srgbClr val="1C2A45"/>
            </a:solidFill>
            <a:prstDash val="solid"/>
          </a:ln>
        </p:spPr>
      </p:sp>
      <p:pic>
        <p:nvPicPr>
          <p:cNvPr id="11" name="Image 1" descr="preencoded.png">    </p:cNvPr>
          <p:cNvPicPr>
            <a:picLocks noChangeAspect="1"/>
          </p:cNvPicPr>
          <p:nvPr/>
        </p:nvPicPr>
        <p:blipFill>
          <a:blip r:embed="rId2"/>
          <a:stretch>
            <a:fillRect/>
          </a:stretch>
        </p:blipFill>
        <p:spPr>
          <a:xfrm>
            <a:off x="749808" y="2852928"/>
            <a:ext cx="237744" cy="237744"/>
          </a:xfrm>
          <a:prstGeom prst="rect">
            <a:avLst/>
          </a:prstGeom>
        </p:spPr>
      </p:pic>
      <p:sp>
        <p:nvSpPr>
          <p:cNvPr id="12" name="Text 8"/>
          <p:cNvSpPr/>
          <p:nvPr/>
        </p:nvSpPr>
        <p:spPr>
          <a:xfrm>
            <a:off x="1143000" y="2697480"/>
            <a:ext cx="3886200" cy="548640"/>
          </a:xfrm>
          <a:prstGeom prst="rect">
            <a:avLst/>
          </a:prstGeom>
          <a:noFill/>
          <a:ln/>
        </p:spPr>
        <p:txBody>
          <a:bodyPr wrap="square" lIns="0" tIns="0" rIns="0" bIns="0" rtlCol="0" anchor="ctr"/>
          <a:lstStyle/>
          <a:p>
            <a:pPr indent="0" marL="0">
              <a:buNone/>
            </a:pPr>
            <a:r>
              <a:rPr lang="en-US" sz="1250" dirty="0">
                <a:solidFill>
                  <a:srgbClr val="F8FAFC"/>
                </a:solidFill>
                <a:latin typeface="Calibri" pitchFamily="34" charset="0"/>
                <a:ea typeface="Calibri" pitchFamily="34" charset="-122"/>
                <a:cs typeface="Calibri" pitchFamily="34" charset="-120"/>
              </a:rPr>
              <a:t>“Who shares a skill AND a project with Arjun?”</a:t>
            </a:r>
            <a:endParaRPr lang="en-US" sz="1250" dirty="0"/>
          </a:p>
        </p:txBody>
      </p:sp>
      <p:sp>
        <p:nvSpPr>
          <p:cNvPr id="13" name="Shape 9"/>
          <p:cNvSpPr/>
          <p:nvPr/>
        </p:nvSpPr>
        <p:spPr>
          <a:xfrm>
            <a:off x="548640" y="3337560"/>
            <a:ext cx="4572000" cy="548640"/>
          </a:xfrm>
          <a:prstGeom prst="roundRect">
            <a:avLst>
              <a:gd name="adj" fmla="val 11667"/>
            </a:avLst>
          </a:prstGeom>
          <a:solidFill>
            <a:srgbClr val="162133"/>
          </a:solidFill>
          <a:ln w="12700">
            <a:solidFill>
              <a:srgbClr val="1C2A45"/>
            </a:solidFill>
            <a:prstDash val="solid"/>
          </a:ln>
        </p:spPr>
      </p:sp>
      <p:pic>
        <p:nvPicPr>
          <p:cNvPr id="14" name="Image 2" descr="preencoded.png">    </p:cNvPr>
          <p:cNvPicPr>
            <a:picLocks noChangeAspect="1"/>
          </p:cNvPicPr>
          <p:nvPr/>
        </p:nvPicPr>
        <p:blipFill>
          <a:blip r:embed="rId3"/>
          <a:stretch>
            <a:fillRect/>
          </a:stretch>
        </p:blipFill>
        <p:spPr>
          <a:xfrm>
            <a:off x="749808" y="3493008"/>
            <a:ext cx="237744" cy="237744"/>
          </a:xfrm>
          <a:prstGeom prst="rect">
            <a:avLst/>
          </a:prstGeom>
        </p:spPr>
      </p:pic>
      <p:sp>
        <p:nvSpPr>
          <p:cNvPr id="15" name="Text 10"/>
          <p:cNvSpPr/>
          <p:nvPr/>
        </p:nvSpPr>
        <p:spPr>
          <a:xfrm>
            <a:off x="1143000" y="3337560"/>
            <a:ext cx="3886200" cy="548640"/>
          </a:xfrm>
          <a:prstGeom prst="rect">
            <a:avLst/>
          </a:prstGeom>
          <a:noFill/>
          <a:ln/>
        </p:spPr>
        <p:txBody>
          <a:bodyPr wrap="square" lIns="0" tIns="0" rIns="0" bIns="0" rtlCol="0" anchor="ctr"/>
          <a:lstStyle/>
          <a:p>
            <a:pPr indent="0" marL="0">
              <a:buNone/>
            </a:pPr>
            <a:r>
              <a:rPr lang="en-US" sz="1250" dirty="0">
                <a:solidFill>
                  <a:srgbClr val="F8FAFC"/>
                </a:solidFill>
                <a:latin typeface="Calibri" pitchFamily="34" charset="0"/>
                <a:ea typeface="Calibri" pitchFamily="34" charset="-122"/>
                <a:cs typeface="Calibri" pitchFamily="34" charset="-120"/>
              </a:rPr>
              <a:t>“Shortest path from me to the Payments lead?”</a:t>
            </a:r>
            <a:endParaRPr lang="en-US" sz="1250" dirty="0"/>
          </a:p>
        </p:txBody>
      </p:sp>
      <p:sp>
        <p:nvSpPr>
          <p:cNvPr id="16" name="Shape 11"/>
          <p:cNvSpPr/>
          <p:nvPr/>
        </p:nvSpPr>
        <p:spPr>
          <a:xfrm>
            <a:off x="548640" y="3977640"/>
            <a:ext cx="4572000" cy="548640"/>
          </a:xfrm>
          <a:prstGeom prst="roundRect">
            <a:avLst>
              <a:gd name="adj" fmla="val 11667"/>
            </a:avLst>
          </a:prstGeom>
          <a:solidFill>
            <a:srgbClr val="162133"/>
          </a:solidFill>
          <a:ln w="12700">
            <a:solidFill>
              <a:srgbClr val="1C2A45"/>
            </a:solidFill>
            <a:prstDash val="solid"/>
          </a:ln>
        </p:spPr>
      </p:sp>
      <p:pic>
        <p:nvPicPr>
          <p:cNvPr id="17" name="Image 3" descr="preencoded.png">    </p:cNvPr>
          <p:cNvPicPr>
            <a:picLocks noChangeAspect="1"/>
          </p:cNvPicPr>
          <p:nvPr/>
        </p:nvPicPr>
        <p:blipFill>
          <a:blip r:embed="rId4"/>
          <a:stretch>
            <a:fillRect/>
          </a:stretch>
        </p:blipFill>
        <p:spPr>
          <a:xfrm>
            <a:off x="749808" y="4133088"/>
            <a:ext cx="237744" cy="237744"/>
          </a:xfrm>
          <a:prstGeom prst="rect">
            <a:avLst/>
          </a:prstGeom>
        </p:spPr>
      </p:pic>
      <p:sp>
        <p:nvSpPr>
          <p:cNvPr id="18" name="Text 12"/>
          <p:cNvSpPr/>
          <p:nvPr/>
        </p:nvSpPr>
        <p:spPr>
          <a:xfrm>
            <a:off x="1143000" y="3977640"/>
            <a:ext cx="3886200" cy="548640"/>
          </a:xfrm>
          <a:prstGeom prst="rect">
            <a:avLst/>
          </a:prstGeom>
          <a:noFill/>
          <a:ln/>
        </p:spPr>
        <p:txBody>
          <a:bodyPr wrap="square" lIns="0" tIns="0" rIns="0" bIns="0" rtlCol="0" anchor="ctr"/>
          <a:lstStyle/>
          <a:p>
            <a:pPr indent="0" marL="0">
              <a:buNone/>
            </a:pPr>
            <a:r>
              <a:rPr lang="en-US" sz="1250" dirty="0">
                <a:solidFill>
                  <a:srgbClr val="F8FAFC"/>
                </a:solidFill>
                <a:latin typeface="Calibri" pitchFamily="34" charset="0"/>
                <a:ea typeface="Calibri" pitchFamily="34" charset="-122"/>
                <a:cs typeface="Calibri" pitchFamily="34" charset="-120"/>
              </a:rPr>
              <a:t>“Who can cover the Risk Architect role?”</a:t>
            </a:r>
            <a:endParaRPr lang="en-US" sz="1250" dirty="0"/>
          </a:p>
        </p:txBody>
      </p:sp>
      <p:sp>
        <p:nvSpPr>
          <p:cNvPr id="19" name="Shape 13"/>
          <p:cNvSpPr/>
          <p:nvPr/>
        </p:nvSpPr>
        <p:spPr>
          <a:xfrm>
            <a:off x="5440680" y="1783080"/>
            <a:ext cx="3154680" cy="2788920"/>
          </a:xfrm>
          <a:prstGeom prst="roundRect">
            <a:avLst>
              <a:gd name="adj" fmla="val 3279"/>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0" name="Text 14"/>
          <p:cNvSpPr/>
          <p:nvPr/>
        </p:nvSpPr>
        <p:spPr>
          <a:xfrm>
            <a:off x="5715000" y="2011680"/>
            <a:ext cx="2651760" cy="365760"/>
          </a:xfrm>
          <a:prstGeom prst="rect">
            <a:avLst/>
          </a:prstGeom>
          <a:noFill/>
          <a:ln/>
        </p:spPr>
        <p:txBody>
          <a:bodyPr wrap="square" rtlCol="0" anchor="ctr"/>
          <a:lstStyle/>
          <a:p>
            <a:pPr indent="0" marL="0">
              <a:buNone/>
            </a:pPr>
            <a:r>
              <a:rPr lang="en-US" sz="1500" b="1" dirty="0">
                <a:solidFill>
                  <a:srgbClr val="2DD4BF"/>
                </a:solidFill>
                <a:latin typeface="Arial" pitchFamily="34" charset="0"/>
                <a:ea typeface="Arial" pitchFamily="34" charset="-122"/>
                <a:cs typeface="Arial" pitchFamily="34" charset="-120"/>
              </a:rPr>
              <a:t>Two surfaces, one server</a:t>
            </a:r>
            <a:endParaRPr lang="en-US" sz="1500" dirty="0"/>
          </a:p>
        </p:txBody>
      </p:sp>
      <p:pic>
        <p:nvPicPr>
          <p:cNvPr id="21" name="Image 4" descr="preencoded.png">    </p:cNvPr>
          <p:cNvPicPr>
            <a:picLocks noChangeAspect="1"/>
          </p:cNvPicPr>
          <p:nvPr/>
        </p:nvPicPr>
        <p:blipFill>
          <a:blip r:embed="rId5"/>
          <a:stretch>
            <a:fillRect/>
          </a:stretch>
        </p:blipFill>
        <p:spPr>
          <a:xfrm>
            <a:off x="5715000" y="2505456"/>
            <a:ext cx="237744" cy="237744"/>
          </a:xfrm>
          <a:prstGeom prst="rect">
            <a:avLst/>
          </a:prstGeom>
        </p:spPr>
      </p:pic>
      <p:sp>
        <p:nvSpPr>
          <p:cNvPr id="22" name="Text 15"/>
          <p:cNvSpPr/>
          <p:nvPr/>
        </p:nvSpPr>
        <p:spPr>
          <a:xfrm>
            <a:off x="6053328" y="2441448"/>
            <a:ext cx="2395728"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VS Code — ask graph questions in your editor</a:t>
            </a:r>
            <a:endParaRPr lang="en-US" sz="1200" dirty="0"/>
          </a:p>
        </p:txBody>
      </p:sp>
      <p:pic>
        <p:nvPicPr>
          <p:cNvPr id="23" name="Image 5" descr="preencoded.png">    </p:cNvPr>
          <p:cNvPicPr>
            <a:picLocks noChangeAspect="1"/>
          </p:cNvPicPr>
          <p:nvPr/>
        </p:nvPicPr>
        <p:blipFill>
          <a:blip r:embed="rId6"/>
          <a:stretch>
            <a:fillRect/>
          </a:stretch>
        </p:blipFill>
        <p:spPr>
          <a:xfrm>
            <a:off x="5715000" y="2926080"/>
            <a:ext cx="237744" cy="237744"/>
          </a:xfrm>
          <a:prstGeom prst="rect">
            <a:avLst/>
          </a:prstGeom>
        </p:spPr>
      </p:pic>
      <p:sp>
        <p:nvSpPr>
          <p:cNvPr id="24" name="Text 16"/>
          <p:cNvSpPr/>
          <p:nvPr/>
        </p:nvSpPr>
        <p:spPr>
          <a:xfrm>
            <a:off x="6053328" y="2862072"/>
            <a:ext cx="2395728"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Web UI — results render as an interactive graph</a:t>
            </a:r>
            <a:endParaRPr lang="en-US" sz="1200" dirty="0"/>
          </a:p>
        </p:txBody>
      </p:sp>
      <p:pic>
        <p:nvPicPr>
          <p:cNvPr id="25" name="Image 6" descr="preencoded.png">    </p:cNvPr>
          <p:cNvPicPr>
            <a:picLocks noChangeAspect="1"/>
          </p:cNvPicPr>
          <p:nvPr/>
        </p:nvPicPr>
        <p:blipFill>
          <a:blip r:embed="rId7"/>
          <a:stretch>
            <a:fillRect/>
          </a:stretch>
        </p:blipFill>
        <p:spPr>
          <a:xfrm>
            <a:off x="5715000" y="3346704"/>
            <a:ext cx="237744" cy="237744"/>
          </a:xfrm>
          <a:prstGeom prst="rect">
            <a:avLst/>
          </a:prstGeom>
        </p:spPr>
      </p:pic>
      <p:sp>
        <p:nvSpPr>
          <p:cNvPr id="26" name="Text 17"/>
          <p:cNvSpPr/>
          <p:nvPr/>
        </p:nvSpPr>
        <p:spPr>
          <a:xfrm>
            <a:off x="6053328" y="3282696"/>
            <a:ext cx="2395728"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Cypher shown with every answer</a:t>
            </a:r>
            <a:endParaRPr lang="en-US" sz="1200" dirty="0"/>
          </a:p>
        </p:txBody>
      </p:sp>
      <p:pic>
        <p:nvPicPr>
          <p:cNvPr id="27" name="Image 7" descr="preencoded.png">    </p:cNvPr>
          <p:cNvPicPr>
            <a:picLocks noChangeAspect="1"/>
          </p:cNvPicPr>
          <p:nvPr/>
        </p:nvPicPr>
        <p:blipFill>
          <a:blip r:embed="rId8"/>
          <a:stretch>
            <a:fillRect/>
          </a:stretch>
        </p:blipFill>
        <p:spPr>
          <a:xfrm>
            <a:off x="5715000" y="3767328"/>
            <a:ext cx="237744" cy="237744"/>
          </a:xfrm>
          <a:prstGeom prst="rect">
            <a:avLst/>
          </a:prstGeom>
        </p:spPr>
      </p:pic>
      <p:sp>
        <p:nvSpPr>
          <p:cNvPr id="28" name="Text 18"/>
          <p:cNvSpPr/>
          <p:nvPr/>
        </p:nvSpPr>
        <p:spPr>
          <a:xfrm>
            <a:off x="6053328" y="3703320"/>
            <a:ext cx="2395728"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FastPath + read-only under the hood</a:t>
            </a:r>
            <a:endParaRPr lang="en-US" sz="1200" dirty="0"/>
          </a:p>
        </p:txBody>
      </p:sp>
      <p:pic>
        <p:nvPicPr>
          <p:cNvPr id="29" name="Image 8" descr="preencoded.png">    </p:cNvPr>
          <p:cNvPicPr>
            <a:picLocks noChangeAspect="1"/>
          </p:cNvPicPr>
          <p:nvPr/>
        </p:nvPicPr>
        <p:blipFill>
          <a:blip r:embed="rId9"/>
          <a:stretch>
            <a:fillRect/>
          </a:stretch>
        </p:blipFill>
        <p:spPr>
          <a:xfrm>
            <a:off x="5715000" y="4187952"/>
            <a:ext cx="237744" cy="237744"/>
          </a:xfrm>
          <a:prstGeom prst="rect">
            <a:avLst/>
          </a:prstGeom>
        </p:spPr>
      </p:pic>
      <p:sp>
        <p:nvSpPr>
          <p:cNvPr id="30" name="Text 19"/>
          <p:cNvSpPr/>
          <p:nvPr/>
        </p:nvSpPr>
        <p:spPr>
          <a:xfrm>
            <a:off x="6053328" y="4123944"/>
            <a:ext cx="2395728"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Live on a real employee graph in Neo4j</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1"/>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411480"/>
            <a:ext cx="8229600" cy="548640"/>
          </a:xfrm>
          <a:prstGeom prst="rect">
            <a:avLst/>
          </a:prstGeom>
          <a:noFill/>
          <a:ln/>
        </p:spPr>
        <p:txBody>
          <a:bodyPr wrap="square" rtlCol="0" anchor="ctr"/>
          <a:lstStyle/>
          <a:p>
            <a:pPr indent="0" marL="0">
              <a:buNone/>
            </a:pPr>
            <a:r>
              <a:rPr lang="en-US" sz="3200" b="1" dirty="0">
                <a:solidFill>
                  <a:srgbClr val="F8FAFC"/>
                </a:solidFill>
                <a:latin typeface="Arial" pitchFamily="34" charset="0"/>
                <a:ea typeface="Arial" pitchFamily="34" charset="-122"/>
                <a:cs typeface="Arial" pitchFamily="34" charset="-120"/>
              </a:rPr>
              <a:t>Why MCP changes the game</a:t>
            </a:r>
            <a:endParaRPr lang="en-US" sz="3200" dirty="0"/>
          </a:p>
        </p:txBody>
      </p:sp>
      <p:sp>
        <p:nvSpPr>
          <p:cNvPr id="5" name="Text 3"/>
          <p:cNvSpPr/>
          <p:nvPr/>
        </p:nvSpPr>
        <p:spPr>
          <a:xfrm>
            <a:off x="548640" y="1024128"/>
            <a:ext cx="82296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Build the bridge once — every AI tool can cross it.</a:t>
            </a:r>
            <a:endParaRPr lang="en-US" sz="1600" dirty="0"/>
          </a:p>
        </p:txBody>
      </p:sp>
      <p:sp>
        <p:nvSpPr>
          <p:cNvPr id="6" name="Shape 4"/>
          <p:cNvSpPr/>
          <p:nvPr/>
        </p:nvSpPr>
        <p:spPr>
          <a:xfrm>
            <a:off x="548640" y="1783080"/>
            <a:ext cx="2615184" cy="2697480"/>
          </a:xfrm>
          <a:prstGeom prst="roundRect">
            <a:avLst>
              <a:gd name="adj" fmla="val 349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7" name="Shape 5"/>
          <p:cNvSpPr/>
          <p:nvPr/>
        </p:nvSpPr>
        <p:spPr>
          <a:xfrm>
            <a:off x="822960" y="2057400"/>
            <a:ext cx="713232" cy="713232"/>
          </a:xfrm>
          <a:prstGeom prst="ellipse">
            <a:avLst/>
          </a:prstGeom>
          <a:solidFill>
            <a:srgbClr val="0E1730"/>
          </a:solidFill>
          <a:ln w="12700">
            <a:solidFill>
              <a:srgbClr val="38BDF8">
                <a:alpha val="65000"/>
              </a:srgbClr>
            </a:solidFill>
            <a:prstDash val="solid"/>
          </a:ln>
        </p:spPr>
      </p:sp>
      <p:pic>
        <p:nvPicPr>
          <p:cNvPr id="8" name="Image 0" descr="preencoded.png">    </p:cNvPr>
          <p:cNvPicPr>
            <a:picLocks noChangeAspect="1"/>
          </p:cNvPicPr>
          <p:nvPr/>
        </p:nvPicPr>
        <p:blipFill>
          <a:blip r:embed="rId1"/>
          <a:stretch>
            <a:fillRect/>
          </a:stretch>
        </p:blipFill>
        <p:spPr>
          <a:xfrm>
            <a:off x="996696" y="2231136"/>
            <a:ext cx="365760" cy="365760"/>
          </a:xfrm>
          <a:prstGeom prst="rect">
            <a:avLst/>
          </a:prstGeom>
        </p:spPr>
      </p:pic>
      <p:sp>
        <p:nvSpPr>
          <p:cNvPr id="9" name="Text 6"/>
          <p:cNvSpPr/>
          <p:nvPr/>
        </p:nvSpPr>
        <p:spPr>
          <a:xfrm>
            <a:off x="822960" y="2926080"/>
            <a:ext cx="2121408" cy="548640"/>
          </a:xfrm>
          <a:prstGeom prst="rect">
            <a:avLst/>
          </a:prstGeom>
          <a:noFill/>
          <a:ln/>
        </p:spPr>
        <p:txBody>
          <a:bodyPr wrap="square" rtlCol="0" anchor="ctr"/>
          <a:lstStyle/>
          <a:p>
            <a:pPr indent="0" marL="0">
              <a:buNone/>
            </a:pPr>
            <a:r>
              <a:rPr lang="en-US" sz="1550" b="1" dirty="0">
                <a:solidFill>
                  <a:srgbClr val="F8FAFC"/>
                </a:solidFill>
                <a:latin typeface="Arial" pitchFamily="34" charset="0"/>
                <a:ea typeface="Arial" pitchFamily="34" charset="-122"/>
                <a:cs typeface="Arial" pitchFamily="34" charset="-120"/>
              </a:rPr>
              <a:t>One standard, not N×M glue</a:t>
            </a:r>
            <a:endParaRPr lang="en-US" sz="1550" dirty="0"/>
          </a:p>
        </p:txBody>
      </p:sp>
      <p:sp>
        <p:nvSpPr>
          <p:cNvPr id="10" name="Text 7"/>
          <p:cNvSpPr/>
          <p:nvPr/>
        </p:nvSpPr>
        <p:spPr>
          <a:xfrm>
            <a:off x="822960" y="3493008"/>
            <a:ext cx="2121408" cy="91440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MCP is the protocol AI tools already speak. We implemented it once — VS Code worked for free.</a:t>
            </a:r>
            <a:endParaRPr lang="en-US" sz="1250" dirty="0"/>
          </a:p>
        </p:txBody>
      </p:sp>
      <p:sp>
        <p:nvSpPr>
          <p:cNvPr id="11" name="Shape 8"/>
          <p:cNvSpPr/>
          <p:nvPr/>
        </p:nvSpPr>
        <p:spPr>
          <a:xfrm>
            <a:off x="3346704" y="1783080"/>
            <a:ext cx="2615184" cy="2697480"/>
          </a:xfrm>
          <a:prstGeom prst="roundRect">
            <a:avLst>
              <a:gd name="adj" fmla="val 349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2" name="Shape 9"/>
          <p:cNvSpPr/>
          <p:nvPr/>
        </p:nvSpPr>
        <p:spPr>
          <a:xfrm>
            <a:off x="3621024" y="2057400"/>
            <a:ext cx="713232" cy="713232"/>
          </a:xfrm>
          <a:prstGeom prst="ellipse">
            <a:avLst/>
          </a:prstGeom>
          <a:solidFill>
            <a:srgbClr val="0E1730"/>
          </a:solidFill>
          <a:ln w="12700">
            <a:solidFill>
              <a:srgbClr val="38BDF8">
                <a:alpha val="65000"/>
              </a:srgbClr>
            </a:solidFill>
            <a:prstDash val="solid"/>
          </a:ln>
        </p:spPr>
      </p:sp>
      <p:pic>
        <p:nvPicPr>
          <p:cNvPr id="13" name="Image 1" descr="preencoded.png">    </p:cNvPr>
          <p:cNvPicPr>
            <a:picLocks noChangeAspect="1"/>
          </p:cNvPicPr>
          <p:nvPr/>
        </p:nvPicPr>
        <p:blipFill>
          <a:blip r:embed="rId2"/>
          <a:stretch>
            <a:fillRect/>
          </a:stretch>
        </p:blipFill>
        <p:spPr>
          <a:xfrm>
            <a:off x="3794760" y="2231136"/>
            <a:ext cx="365760" cy="365760"/>
          </a:xfrm>
          <a:prstGeom prst="rect">
            <a:avLst/>
          </a:prstGeom>
        </p:spPr>
      </p:pic>
      <p:sp>
        <p:nvSpPr>
          <p:cNvPr id="14" name="Text 10"/>
          <p:cNvSpPr/>
          <p:nvPr/>
        </p:nvSpPr>
        <p:spPr>
          <a:xfrm>
            <a:off x="3621024" y="2926080"/>
            <a:ext cx="2121408" cy="548640"/>
          </a:xfrm>
          <a:prstGeom prst="rect">
            <a:avLst/>
          </a:prstGeom>
          <a:noFill/>
          <a:ln/>
        </p:spPr>
        <p:txBody>
          <a:bodyPr wrap="square" rtlCol="0" anchor="ctr"/>
          <a:lstStyle/>
          <a:p>
            <a:pPr indent="0" marL="0">
              <a:buNone/>
            </a:pPr>
            <a:r>
              <a:rPr lang="en-US" sz="1550" b="1" dirty="0">
                <a:solidFill>
                  <a:srgbClr val="F8FAFC"/>
                </a:solidFill>
                <a:latin typeface="Arial" pitchFamily="34" charset="0"/>
                <a:ea typeface="Arial" pitchFamily="34" charset="-122"/>
                <a:cs typeface="Arial" pitchFamily="34" charset="-120"/>
              </a:rPr>
              <a:t>Composable with agents</a:t>
            </a:r>
            <a:endParaRPr lang="en-US" sz="1550" dirty="0"/>
          </a:p>
        </p:txBody>
      </p:sp>
      <p:sp>
        <p:nvSpPr>
          <p:cNvPr id="15" name="Text 11"/>
          <p:cNvSpPr/>
          <p:nvPr/>
        </p:nvSpPr>
        <p:spPr>
          <a:xfrm>
            <a:off x="3621024" y="3493008"/>
            <a:ext cx="2121408" cy="91440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Graph Mind is a tool any agent can call mid-reasoning, blending graph facts with everything else.</a:t>
            </a:r>
            <a:endParaRPr lang="en-US" sz="1250" dirty="0"/>
          </a:p>
        </p:txBody>
      </p:sp>
      <p:sp>
        <p:nvSpPr>
          <p:cNvPr id="16" name="Shape 12"/>
          <p:cNvSpPr/>
          <p:nvPr/>
        </p:nvSpPr>
        <p:spPr>
          <a:xfrm>
            <a:off x="6144768" y="1783080"/>
            <a:ext cx="2615184" cy="2697480"/>
          </a:xfrm>
          <a:prstGeom prst="roundRect">
            <a:avLst>
              <a:gd name="adj" fmla="val 3497"/>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7" name="Shape 13"/>
          <p:cNvSpPr/>
          <p:nvPr/>
        </p:nvSpPr>
        <p:spPr>
          <a:xfrm>
            <a:off x="6419088" y="2057400"/>
            <a:ext cx="713232" cy="713232"/>
          </a:xfrm>
          <a:prstGeom prst="ellipse">
            <a:avLst/>
          </a:prstGeom>
          <a:solidFill>
            <a:srgbClr val="0E1730"/>
          </a:solidFill>
          <a:ln w="12700">
            <a:solidFill>
              <a:srgbClr val="38BDF8">
                <a:alpha val="65000"/>
              </a:srgbClr>
            </a:solidFill>
            <a:prstDash val="solid"/>
          </a:ln>
        </p:spPr>
      </p:sp>
      <p:pic>
        <p:nvPicPr>
          <p:cNvPr id="18" name="Image 2" descr="preencoded.png">    </p:cNvPr>
          <p:cNvPicPr>
            <a:picLocks noChangeAspect="1"/>
          </p:cNvPicPr>
          <p:nvPr/>
        </p:nvPicPr>
        <p:blipFill>
          <a:blip r:embed="rId3"/>
          <a:stretch>
            <a:fillRect/>
          </a:stretch>
        </p:blipFill>
        <p:spPr>
          <a:xfrm>
            <a:off x="6592824" y="2231136"/>
            <a:ext cx="365760" cy="365760"/>
          </a:xfrm>
          <a:prstGeom prst="rect">
            <a:avLst/>
          </a:prstGeom>
        </p:spPr>
      </p:pic>
      <p:sp>
        <p:nvSpPr>
          <p:cNvPr id="19" name="Text 14"/>
          <p:cNvSpPr/>
          <p:nvPr/>
        </p:nvSpPr>
        <p:spPr>
          <a:xfrm>
            <a:off x="6419088" y="2926080"/>
            <a:ext cx="2121408" cy="548640"/>
          </a:xfrm>
          <a:prstGeom prst="rect">
            <a:avLst/>
          </a:prstGeom>
          <a:noFill/>
          <a:ln/>
        </p:spPr>
        <p:txBody>
          <a:bodyPr wrap="square" rtlCol="0" anchor="ctr"/>
          <a:lstStyle/>
          <a:p>
            <a:pPr indent="0" marL="0">
              <a:buNone/>
            </a:pPr>
            <a:r>
              <a:rPr lang="en-US" sz="1550" b="1" dirty="0">
                <a:solidFill>
                  <a:srgbClr val="F8FAFC"/>
                </a:solidFill>
                <a:latin typeface="Arial" pitchFamily="34" charset="0"/>
                <a:ea typeface="Arial" pitchFamily="34" charset="-122"/>
                <a:cs typeface="Arial" pitchFamily="34" charset="-120"/>
              </a:rPr>
              <a:t>Future-proof</a:t>
            </a:r>
            <a:endParaRPr lang="en-US" sz="1550" dirty="0"/>
          </a:p>
        </p:txBody>
      </p:sp>
      <p:sp>
        <p:nvSpPr>
          <p:cNvPr id="20" name="Text 15"/>
          <p:cNvSpPr/>
          <p:nvPr/>
        </p:nvSpPr>
        <p:spPr>
          <a:xfrm>
            <a:off x="6419088" y="3493008"/>
            <a:ext cx="2121408" cy="914400"/>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As new AI clients adopt MCP, they get instant, safe access to your graph — no extra work for us.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Shape 2"/>
          <p:cNvSpPr/>
          <p:nvPr/>
        </p:nvSpPr>
        <p:spPr>
          <a:xfrm>
            <a:off x="7342632" y="393192"/>
            <a:ext cx="603504" cy="219456"/>
          </a:xfrm>
          <a:prstGeom prst="line">
            <a:avLst/>
          </a:prstGeom>
          <a:noFill/>
          <a:ln w="15875">
            <a:solidFill>
              <a:srgbClr val="2DD4BF">
                <a:alpha val="45000"/>
              </a:srgbClr>
            </a:solidFill>
            <a:prstDash val="solid"/>
          </a:ln>
        </p:spPr>
      </p:sp>
      <p:sp>
        <p:nvSpPr>
          <p:cNvPr id="5" name="Shape 3"/>
          <p:cNvSpPr/>
          <p:nvPr/>
        </p:nvSpPr>
        <p:spPr>
          <a:xfrm>
            <a:off x="7342632" y="393192"/>
            <a:ext cx="329184" cy="658368"/>
          </a:xfrm>
          <a:prstGeom prst="line">
            <a:avLst/>
          </a:prstGeom>
          <a:noFill/>
          <a:ln w="15875">
            <a:solidFill>
              <a:srgbClr val="2DD4BF">
                <a:alpha val="45000"/>
              </a:srgbClr>
            </a:solidFill>
            <a:prstDash val="solid"/>
          </a:ln>
        </p:spPr>
      </p:sp>
      <p:sp>
        <p:nvSpPr>
          <p:cNvPr id="6" name="Shape 4"/>
          <p:cNvSpPr/>
          <p:nvPr/>
        </p:nvSpPr>
        <p:spPr>
          <a:xfrm>
            <a:off x="7946136" y="612648"/>
            <a:ext cx="384048" cy="493776"/>
          </a:xfrm>
          <a:prstGeom prst="line">
            <a:avLst/>
          </a:prstGeom>
          <a:noFill/>
          <a:ln w="15875">
            <a:solidFill>
              <a:srgbClr val="2DD4BF">
                <a:alpha val="45000"/>
              </a:srgbClr>
            </a:solidFill>
            <a:prstDash val="solid"/>
          </a:ln>
        </p:spPr>
      </p:sp>
      <p:sp>
        <p:nvSpPr>
          <p:cNvPr id="7" name="Shape 5"/>
          <p:cNvSpPr/>
          <p:nvPr/>
        </p:nvSpPr>
        <p:spPr>
          <a:xfrm>
            <a:off x="7946136" y="612648"/>
            <a:ext cx="603504" cy="-109728"/>
          </a:xfrm>
          <a:prstGeom prst="line">
            <a:avLst/>
          </a:prstGeom>
          <a:noFill/>
          <a:ln w="15875">
            <a:solidFill>
              <a:srgbClr val="2DD4BF">
                <a:alpha val="45000"/>
              </a:srgbClr>
            </a:solidFill>
            <a:prstDash val="solid"/>
          </a:ln>
        </p:spPr>
      </p:sp>
      <p:sp>
        <p:nvSpPr>
          <p:cNvPr id="8" name="Shape 6"/>
          <p:cNvSpPr/>
          <p:nvPr/>
        </p:nvSpPr>
        <p:spPr>
          <a:xfrm>
            <a:off x="7671816" y="1051560"/>
            <a:ext cx="658368" cy="54864"/>
          </a:xfrm>
          <a:prstGeom prst="line">
            <a:avLst/>
          </a:prstGeom>
          <a:noFill/>
          <a:ln w="15875">
            <a:solidFill>
              <a:srgbClr val="2DD4BF">
                <a:alpha val="45000"/>
              </a:srgbClr>
            </a:solidFill>
            <a:prstDash val="solid"/>
          </a:ln>
        </p:spPr>
      </p:sp>
      <p:sp>
        <p:nvSpPr>
          <p:cNvPr id="9" name="Shape 7"/>
          <p:cNvSpPr/>
          <p:nvPr/>
        </p:nvSpPr>
        <p:spPr>
          <a:xfrm>
            <a:off x="7671816" y="1051560"/>
            <a:ext cx="438912" cy="493776"/>
          </a:xfrm>
          <a:prstGeom prst="line">
            <a:avLst/>
          </a:prstGeom>
          <a:noFill/>
          <a:ln w="15875">
            <a:solidFill>
              <a:srgbClr val="2DD4BF">
                <a:alpha val="45000"/>
              </a:srgbClr>
            </a:solidFill>
            <a:prstDash val="solid"/>
          </a:ln>
        </p:spPr>
      </p:sp>
      <p:sp>
        <p:nvSpPr>
          <p:cNvPr id="10" name="Shape 8"/>
          <p:cNvSpPr/>
          <p:nvPr/>
        </p:nvSpPr>
        <p:spPr>
          <a:xfrm>
            <a:off x="8330184" y="1106424"/>
            <a:ext cx="-219456" cy="438912"/>
          </a:xfrm>
          <a:prstGeom prst="line">
            <a:avLst/>
          </a:prstGeom>
          <a:noFill/>
          <a:ln w="15875">
            <a:solidFill>
              <a:srgbClr val="2DD4BF">
                <a:alpha val="45000"/>
              </a:srgbClr>
            </a:solidFill>
            <a:prstDash val="solid"/>
          </a:ln>
        </p:spPr>
      </p:sp>
      <p:sp>
        <p:nvSpPr>
          <p:cNvPr id="11" name="Shape 9"/>
          <p:cNvSpPr/>
          <p:nvPr/>
        </p:nvSpPr>
        <p:spPr>
          <a:xfrm>
            <a:off x="7315200" y="365760"/>
            <a:ext cx="109728" cy="109728"/>
          </a:xfrm>
          <a:prstGeom prst="ellipse">
            <a:avLst/>
          </a:prstGeom>
          <a:solidFill>
            <a:srgbClr val="2DD4BF">
              <a:alpha val="85000"/>
            </a:srgbClr>
          </a:solidFill>
          <a:ln w="6350">
            <a:solidFill>
              <a:srgbClr val="F8FAFC">
                <a:alpha val="40000"/>
              </a:srgbClr>
            </a:solidFill>
            <a:prstDash val="solid"/>
          </a:ln>
        </p:spPr>
      </p:sp>
      <p:sp>
        <p:nvSpPr>
          <p:cNvPr id="12" name="Shape 10"/>
          <p:cNvSpPr/>
          <p:nvPr/>
        </p:nvSpPr>
        <p:spPr>
          <a:xfrm>
            <a:off x="7918704" y="585216"/>
            <a:ext cx="71323" cy="71323"/>
          </a:xfrm>
          <a:prstGeom prst="ellipse">
            <a:avLst/>
          </a:prstGeom>
          <a:solidFill>
            <a:srgbClr val="38BDF8">
              <a:alpha val="85000"/>
            </a:srgbClr>
          </a:solidFill>
          <a:ln w="6350">
            <a:solidFill>
              <a:srgbClr val="F8FAFC">
                <a:alpha val="40000"/>
              </a:srgbClr>
            </a:solidFill>
            <a:prstDash val="solid"/>
          </a:ln>
        </p:spPr>
      </p:sp>
      <p:sp>
        <p:nvSpPr>
          <p:cNvPr id="13" name="Shape 11"/>
          <p:cNvSpPr/>
          <p:nvPr/>
        </p:nvSpPr>
        <p:spPr>
          <a:xfrm>
            <a:off x="7644384" y="1024128"/>
            <a:ext cx="71323" cy="71323"/>
          </a:xfrm>
          <a:prstGeom prst="ellipse">
            <a:avLst/>
          </a:prstGeom>
          <a:solidFill>
            <a:srgbClr val="4ADE80">
              <a:alpha val="85000"/>
            </a:srgbClr>
          </a:solidFill>
          <a:ln w="6350">
            <a:solidFill>
              <a:srgbClr val="F8FAFC">
                <a:alpha val="40000"/>
              </a:srgbClr>
            </a:solidFill>
            <a:prstDash val="solid"/>
          </a:ln>
        </p:spPr>
      </p:sp>
      <p:sp>
        <p:nvSpPr>
          <p:cNvPr id="14" name="Shape 12"/>
          <p:cNvSpPr/>
          <p:nvPr/>
        </p:nvSpPr>
        <p:spPr>
          <a:xfrm>
            <a:off x="8302752" y="1078992"/>
            <a:ext cx="109728" cy="109728"/>
          </a:xfrm>
          <a:prstGeom prst="ellipse">
            <a:avLst/>
          </a:prstGeom>
          <a:solidFill>
            <a:srgbClr val="2DD4BF">
              <a:alpha val="85000"/>
            </a:srgbClr>
          </a:solidFill>
          <a:ln w="6350">
            <a:solidFill>
              <a:srgbClr val="F8FAFC">
                <a:alpha val="40000"/>
              </a:srgbClr>
            </a:solidFill>
            <a:prstDash val="solid"/>
          </a:ln>
        </p:spPr>
      </p:sp>
      <p:sp>
        <p:nvSpPr>
          <p:cNvPr id="15" name="Shape 13"/>
          <p:cNvSpPr/>
          <p:nvPr/>
        </p:nvSpPr>
        <p:spPr>
          <a:xfrm>
            <a:off x="8522208" y="475488"/>
            <a:ext cx="71323" cy="71323"/>
          </a:xfrm>
          <a:prstGeom prst="ellipse">
            <a:avLst/>
          </a:prstGeom>
          <a:solidFill>
            <a:srgbClr val="38BDF8">
              <a:alpha val="85000"/>
            </a:srgbClr>
          </a:solidFill>
          <a:ln w="6350">
            <a:solidFill>
              <a:srgbClr val="F8FAFC">
                <a:alpha val="40000"/>
              </a:srgbClr>
            </a:solidFill>
            <a:prstDash val="solid"/>
          </a:ln>
        </p:spPr>
      </p:sp>
      <p:sp>
        <p:nvSpPr>
          <p:cNvPr id="16" name="Shape 14"/>
          <p:cNvSpPr/>
          <p:nvPr/>
        </p:nvSpPr>
        <p:spPr>
          <a:xfrm>
            <a:off x="8083296" y="1517904"/>
            <a:ext cx="71323" cy="71323"/>
          </a:xfrm>
          <a:prstGeom prst="ellipse">
            <a:avLst/>
          </a:prstGeom>
          <a:solidFill>
            <a:srgbClr val="4ADE80">
              <a:alpha val="85000"/>
            </a:srgbClr>
          </a:solidFill>
          <a:ln w="6350">
            <a:solidFill>
              <a:srgbClr val="F8FAFC">
                <a:alpha val="40000"/>
              </a:srgbClr>
            </a:solidFill>
            <a:prstDash val="solid"/>
          </a:ln>
        </p:spPr>
      </p:sp>
      <p:sp>
        <p:nvSpPr>
          <p:cNvPr id="17" name="Text 15"/>
          <p:cNvSpPr/>
          <p:nvPr/>
        </p:nvSpPr>
        <p:spPr>
          <a:xfrm>
            <a:off x="548640" y="411480"/>
            <a:ext cx="8229600" cy="548640"/>
          </a:xfrm>
          <a:prstGeom prst="rect">
            <a:avLst/>
          </a:prstGeom>
          <a:noFill/>
          <a:ln/>
        </p:spPr>
        <p:txBody>
          <a:bodyPr wrap="square" rtlCol="0" anchor="ctr"/>
          <a:lstStyle/>
          <a:p>
            <a:pPr indent="0" marL="0">
              <a:buNone/>
            </a:pPr>
            <a:r>
              <a:rPr lang="en-US" sz="3000" b="1" dirty="0">
                <a:solidFill>
                  <a:srgbClr val="F8FAFC"/>
                </a:solidFill>
                <a:latin typeface="Arial" pitchFamily="34" charset="0"/>
                <a:ea typeface="Arial" pitchFamily="34" charset="-122"/>
                <a:cs typeface="Arial" pitchFamily="34" charset="-120"/>
              </a:rPr>
              <a:t>Plug-in spotlight: Audience Builder</a:t>
            </a:r>
            <a:endParaRPr lang="en-US" sz="3000" dirty="0"/>
          </a:p>
        </p:txBody>
      </p:sp>
      <p:sp>
        <p:nvSpPr>
          <p:cNvPr id="18" name="Text 16"/>
          <p:cNvSpPr/>
          <p:nvPr/>
        </p:nvSpPr>
        <p:spPr>
          <a:xfrm>
            <a:off x="548640" y="1024128"/>
            <a:ext cx="82296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A notification composer builds send-lists straight from the graph — over UI or MCP.</a:t>
            </a:r>
            <a:endParaRPr lang="en-US" sz="1600" dirty="0"/>
          </a:p>
        </p:txBody>
      </p:sp>
      <p:sp>
        <p:nvSpPr>
          <p:cNvPr id="19" name="Shape 17"/>
          <p:cNvSpPr/>
          <p:nvPr/>
        </p:nvSpPr>
        <p:spPr>
          <a:xfrm>
            <a:off x="548640" y="1783080"/>
            <a:ext cx="4937760" cy="2834640"/>
          </a:xfrm>
          <a:prstGeom prst="roundRect">
            <a:avLst>
              <a:gd name="adj" fmla="val 3226"/>
            </a:avLst>
          </a:prstGeom>
          <a:solidFill>
            <a:srgbClr val="162133"/>
          </a:solidFill>
          <a:ln w="19050">
            <a:solidFill>
              <a:srgbClr val="2DD4BF"/>
            </a:solidFill>
            <a:prstDash val="solid"/>
          </a:ln>
          <a:effectLst>
            <a:outerShdw sx="100000" sy="100000" kx="0" ky="0" algn="bl" rotWithShape="0" blurRad="114300" dist="38100" dir="5400000">
              <a:srgbClr val="000000">
                <a:alpha val="35000"/>
              </a:srgbClr>
            </a:outerShdw>
          </a:effectLst>
        </p:spPr>
      </p:sp>
      <p:sp>
        <p:nvSpPr>
          <p:cNvPr id="20" name="Shape 18"/>
          <p:cNvSpPr/>
          <p:nvPr/>
        </p:nvSpPr>
        <p:spPr>
          <a:xfrm>
            <a:off x="822960" y="2011680"/>
            <a:ext cx="731520" cy="731520"/>
          </a:xfrm>
          <a:prstGeom prst="ellipse">
            <a:avLst/>
          </a:prstGeom>
          <a:solidFill>
            <a:srgbClr val="2DD4BF"/>
          </a:solidFill>
          <a:ln/>
        </p:spPr>
      </p:sp>
      <p:pic>
        <p:nvPicPr>
          <p:cNvPr id="21" name="Image 0" descr="preencoded.png">    </p:cNvPr>
          <p:cNvPicPr>
            <a:picLocks noChangeAspect="1"/>
          </p:cNvPicPr>
          <p:nvPr/>
        </p:nvPicPr>
        <p:blipFill>
          <a:blip r:embed="rId1"/>
          <a:stretch>
            <a:fillRect/>
          </a:stretch>
        </p:blipFill>
        <p:spPr>
          <a:xfrm>
            <a:off x="1005840" y="2194560"/>
            <a:ext cx="365760" cy="365760"/>
          </a:xfrm>
          <a:prstGeom prst="rect">
            <a:avLst/>
          </a:prstGeom>
        </p:spPr>
      </p:pic>
      <p:sp>
        <p:nvSpPr>
          <p:cNvPr id="22" name="Text 19"/>
          <p:cNvSpPr/>
          <p:nvPr/>
        </p:nvSpPr>
        <p:spPr>
          <a:xfrm>
            <a:off x="1737360" y="2121408"/>
            <a:ext cx="3566160" cy="292608"/>
          </a:xfrm>
          <a:prstGeom prst="rect">
            <a:avLst/>
          </a:prstGeom>
          <a:noFill/>
          <a:ln/>
        </p:spPr>
        <p:txBody>
          <a:bodyPr wrap="square" rtlCol="0" anchor="ctr"/>
          <a:lstStyle/>
          <a:p>
            <a:pPr indent="0" marL="0">
              <a:buNone/>
            </a:pPr>
            <a:r>
              <a:rPr lang="en-US" sz="1700" b="1" dirty="0">
                <a:solidFill>
                  <a:srgbClr val="F8FAFC"/>
                </a:solidFill>
                <a:latin typeface="Arial" pitchFamily="34" charset="0"/>
                <a:ea typeface="Arial" pitchFamily="34" charset="-122"/>
                <a:cs typeface="Arial" pitchFamily="34" charset="-120"/>
              </a:rPr>
              <a:t>For the iNOTIFY composer</a:t>
            </a:r>
            <a:endParaRPr lang="en-US" sz="1700" dirty="0"/>
          </a:p>
        </p:txBody>
      </p:sp>
      <p:sp>
        <p:nvSpPr>
          <p:cNvPr id="23" name="Text 20"/>
          <p:cNvSpPr/>
          <p:nvPr/>
        </p:nvSpPr>
        <p:spPr>
          <a:xfrm>
            <a:off x="1737360" y="2432304"/>
            <a:ext cx="3566160" cy="274320"/>
          </a:xfrm>
          <a:prstGeom prst="rect">
            <a:avLst/>
          </a:prstGeom>
          <a:noFill/>
          <a:ln/>
        </p:spPr>
        <p:txBody>
          <a:bodyPr wrap="square" rtlCol="0" anchor="ctr"/>
          <a:lstStyle/>
          <a:p>
            <a:pPr indent="0" marL="0">
              <a:buNone/>
            </a:pPr>
            <a:r>
              <a:rPr lang="en-US" sz="1200" dirty="0">
                <a:solidFill>
                  <a:srgbClr val="2DD4BF"/>
                </a:solidFill>
                <a:latin typeface="Calibri" pitchFamily="34" charset="0"/>
                <a:ea typeface="Calibri" pitchFamily="34" charset="-122"/>
                <a:cs typeface="Calibri" pitchFamily="34" charset="-120"/>
              </a:rPr>
              <a:t>Plug in via UI or MCP</a:t>
            </a:r>
            <a:endParaRPr lang="en-US" sz="1200" dirty="0"/>
          </a:p>
        </p:txBody>
      </p:sp>
      <p:sp>
        <p:nvSpPr>
          <p:cNvPr id="24" name="Text 21"/>
          <p:cNvSpPr/>
          <p:nvPr/>
        </p:nvSpPr>
        <p:spPr>
          <a:xfrm>
            <a:off x="822960" y="2907792"/>
            <a:ext cx="4434840" cy="713232"/>
          </a:xfrm>
          <a:prstGeom prst="rect">
            <a:avLst/>
          </a:prstGeom>
          <a:noFill/>
          <a:ln/>
        </p:spPr>
        <p:txBody>
          <a:bodyPr wrap="square" rtlCol="0" anchor="ctr"/>
          <a:lstStyle/>
          <a:p>
            <a:pPr indent="0" marL="0">
              <a:lnSpc>
                <a:spcPct val="105000"/>
              </a:lnSpc>
              <a:buNone/>
            </a:pPr>
            <a:r>
              <a:rPr lang="en-US" sz="1250" dirty="0">
                <a:solidFill>
                  <a:srgbClr val="94A3B8"/>
                </a:solidFill>
                <a:latin typeface="Calibri" pitchFamily="34" charset="0"/>
                <a:ea typeface="Calibri" pitchFamily="34" charset="-122"/>
                <a:cs typeface="Calibri" pitchFamily="34" charset="-120"/>
              </a:rPr>
              <a:t>Stop hand-curating recipient lists. The composer just asks — “everyone in APAC Payments reachable on Teams” — and Graph Mind returns the matching audience.</a:t>
            </a:r>
            <a:endParaRPr lang="en-US" sz="1250" dirty="0"/>
          </a:p>
        </p:txBody>
      </p:sp>
      <p:sp>
        <p:nvSpPr>
          <p:cNvPr id="25" name="Text 22"/>
          <p:cNvSpPr/>
          <p:nvPr/>
        </p:nvSpPr>
        <p:spPr>
          <a:xfrm>
            <a:off x="822960" y="3694176"/>
            <a:ext cx="4114800" cy="219456"/>
          </a:xfrm>
          <a:prstGeom prst="rect">
            <a:avLst/>
          </a:prstGeom>
          <a:noFill/>
          <a:ln/>
        </p:spPr>
        <p:txBody>
          <a:bodyPr wrap="square" rtlCol="0" anchor="ctr"/>
          <a:lstStyle/>
          <a:p>
            <a:pPr indent="0" marL="0">
              <a:buNone/>
            </a:pPr>
            <a:r>
              <a:rPr lang="en-US" sz="900" b="1" spc="200" kern="0" dirty="0">
                <a:solidFill>
                  <a:srgbClr val="2DD4BF"/>
                </a:solidFill>
                <a:latin typeface="Arial" pitchFamily="34" charset="0"/>
                <a:ea typeface="Arial" pitchFamily="34" charset="-122"/>
                <a:cs typeface="Arial" pitchFamily="34" charset="-120"/>
              </a:rPr>
              <a:t>TARGET BY ATTRIBUTE</a:t>
            </a:r>
            <a:endParaRPr lang="en-US" sz="900" dirty="0"/>
          </a:p>
        </p:txBody>
      </p:sp>
      <p:sp>
        <p:nvSpPr>
          <p:cNvPr id="26" name="Shape 23"/>
          <p:cNvSpPr/>
          <p:nvPr/>
        </p:nvSpPr>
        <p:spPr>
          <a:xfrm>
            <a:off x="822960" y="3950208"/>
            <a:ext cx="868680" cy="329184"/>
          </a:xfrm>
          <a:prstGeom prst="roundRect">
            <a:avLst>
              <a:gd name="adj" fmla="val 50000"/>
            </a:avLst>
          </a:prstGeom>
          <a:solidFill>
            <a:srgbClr val="0E1730"/>
          </a:solidFill>
          <a:ln w="12700">
            <a:solidFill>
              <a:srgbClr val="38BDF8">
                <a:alpha val="70000"/>
              </a:srgbClr>
            </a:solidFill>
            <a:prstDash val="solid"/>
          </a:ln>
        </p:spPr>
      </p:sp>
      <p:sp>
        <p:nvSpPr>
          <p:cNvPr id="27" name="Text 24"/>
          <p:cNvSpPr/>
          <p:nvPr/>
        </p:nvSpPr>
        <p:spPr>
          <a:xfrm>
            <a:off x="822960" y="3950208"/>
            <a:ext cx="868680" cy="329184"/>
          </a:xfrm>
          <a:prstGeom prst="rect">
            <a:avLst/>
          </a:prstGeom>
          <a:noFill/>
          <a:ln/>
        </p:spPr>
        <p:txBody>
          <a:bodyPr wrap="square" lIns="0" tIns="0" rIns="0" bIns="0" rtlCol="0" anchor="ctr"/>
          <a:lstStyle/>
          <a:p>
            <a:pPr algn="ctr" indent="0" marL="0">
              <a:buNone/>
            </a:pPr>
            <a:r>
              <a:rPr lang="en-US" sz="1050" dirty="0">
                <a:solidFill>
                  <a:srgbClr val="F8FAFC"/>
                </a:solidFill>
                <a:latin typeface="Calibri" pitchFamily="34" charset="0"/>
                <a:ea typeface="Calibri" pitchFamily="34" charset="-122"/>
                <a:cs typeface="Calibri" pitchFamily="34" charset="-120"/>
              </a:rPr>
              <a:t>Region</a:t>
            </a:r>
            <a:endParaRPr lang="en-US" sz="1050" dirty="0"/>
          </a:p>
        </p:txBody>
      </p:sp>
      <p:sp>
        <p:nvSpPr>
          <p:cNvPr id="28" name="Shape 25"/>
          <p:cNvSpPr/>
          <p:nvPr/>
        </p:nvSpPr>
        <p:spPr>
          <a:xfrm>
            <a:off x="1783080" y="3950208"/>
            <a:ext cx="1234440" cy="329184"/>
          </a:xfrm>
          <a:prstGeom prst="roundRect">
            <a:avLst>
              <a:gd name="adj" fmla="val 50000"/>
            </a:avLst>
          </a:prstGeom>
          <a:solidFill>
            <a:srgbClr val="0E1730"/>
          </a:solidFill>
          <a:ln w="12700">
            <a:solidFill>
              <a:srgbClr val="38BDF8">
                <a:alpha val="70000"/>
              </a:srgbClr>
            </a:solidFill>
            <a:prstDash val="solid"/>
          </a:ln>
        </p:spPr>
      </p:sp>
      <p:sp>
        <p:nvSpPr>
          <p:cNvPr id="29" name="Text 26"/>
          <p:cNvSpPr/>
          <p:nvPr/>
        </p:nvSpPr>
        <p:spPr>
          <a:xfrm>
            <a:off x="1783080" y="3950208"/>
            <a:ext cx="1234440" cy="329184"/>
          </a:xfrm>
          <a:prstGeom prst="rect">
            <a:avLst/>
          </a:prstGeom>
          <a:noFill/>
          <a:ln/>
        </p:spPr>
        <p:txBody>
          <a:bodyPr wrap="square" lIns="0" tIns="0" rIns="0" bIns="0" rtlCol="0" anchor="ctr"/>
          <a:lstStyle/>
          <a:p>
            <a:pPr algn="ctr" indent="0" marL="0">
              <a:buNone/>
            </a:pPr>
            <a:r>
              <a:rPr lang="en-US" sz="1050" dirty="0">
                <a:solidFill>
                  <a:srgbClr val="F8FAFC"/>
                </a:solidFill>
                <a:latin typeface="Calibri" pitchFamily="34" charset="0"/>
                <a:ea typeface="Calibri" pitchFamily="34" charset="-122"/>
                <a:cs typeface="Calibri" pitchFamily="34" charset="-120"/>
              </a:rPr>
              <a:t>Department</a:t>
            </a:r>
            <a:endParaRPr lang="en-US" sz="1050" dirty="0"/>
          </a:p>
        </p:txBody>
      </p:sp>
      <p:sp>
        <p:nvSpPr>
          <p:cNvPr id="30" name="Shape 27"/>
          <p:cNvSpPr/>
          <p:nvPr/>
        </p:nvSpPr>
        <p:spPr>
          <a:xfrm>
            <a:off x="3108960" y="3950208"/>
            <a:ext cx="731520" cy="329184"/>
          </a:xfrm>
          <a:prstGeom prst="roundRect">
            <a:avLst>
              <a:gd name="adj" fmla="val 50000"/>
            </a:avLst>
          </a:prstGeom>
          <a:solidFill>
            <a:srgbClr val="0E1730"/>
          </a:solidFill>
          <a:ln w="12700">
            <a:solidFill>
              <a:srgbClr val="38BDF8">
                <a:alpha val="70000"/>
              </a:srgbClr>
            </a:solidFill>
            <a:prstDash val="solid"/>
          </a:ln>
        </p:spPr>
      </p:sp>
      <p:sp>
        <p:nvSpPr>
          <p:cNvPr id="31" name="Text 28"/>
          <p:cNvSpPr/>
          <p:nvPr/>
        </p:nvSpPr>
        <p:spPr>
          <a:xfrm>
            <a:off x="3108960" y="3950208"/>
            <a:ext cx="731520" cy="329184"/>
          </a:xfrm>
          <a:prstGeom prst="rect">
            <a:avLst/>
          </a:prstGeom>
          <a:noFill/>
          <a:ln/>
        </p:spPr>
        <p:txBody>
          <a:bodyPr wrap="square" lIns="0" tIns="0" rIns="0" bIns="0" rtlCol="0" anchor="ctr"/>
          <a:lstStyle/>
          <a:p>
            <a:pPr algn="ctr" indent="0" marL="0">
              <a:buNone/>
            </a:pPr>
            <a:r>
              <a:rPr lang="en-US" sz="1050" dirty="0">
                <a:solidFill>
                  <a:srgbClr val="F8FAFC"/>
                </a:solidFill>
                <a:latin typeface="Calibri" pitchFamily="34" charset="0"/>
                <a:ea typeface="Calibri" pitchFamily="34" charset="-122"/>
                <a:cs typeface="Calibri" pitchFamily="34" charset="-120"/>
              </a:rPr>
              <a:t>Role</a:t>
            </a:r>
            <a:endParaRPr lang="en-US" sz="1050" dirty="0"/>
          </a:p>
        </p:txBody>
      </p:sp>
      <p:sp>
        <p:nvSpPr>
          <p:cNvPr id="32" name="Shape 29"/>
          <p:cNvSpPr/>
          <p:nvPr/>
        </p:nvSpPr>
        <p:spPr>
          <a:xfrm>
            <a:off x="3931920" y="3950208"/>
            <a:ext cx="960120" cy="329184"/>
          </a:xfrm>
          <a:prstGeom prst="roundRect">
            <a:avLst>
              <a:gd name="adj" fmla="val 50000"/>
            </a:avLst>
          </a:prstGeom>
          <a:solidFill>
            <a:srgbClr val="0E1730"/>
          </a:solidFill>
          <a:ln w="12700">
            <a:solidFill>
              <a:srgbClr val="38BDF8">
                <a:alpha val="70000"/>
              </a:srgbClr>
            </a:solidFill>
            <a:prstDash val="solid"/>
          </a:ln>
        </p:spPr>
      </p:sp>
      <p:sp>
        <p:nvSpPr>
          <p:cNvPr id="33" name="Text 30"/>
          <p:cNvSpPr/>
          <p:nvPr/>
        </p:nvSpPr>
        <p:spPr>
          <a:xfrm>
            <a:off x="3931920" y="3950208"/>
            <a:ext cx="960120" cy="329184"/>
          </a:xfrm>
          <a:prstGeom prst="rect">
            <a:avLst/>
          </a:prstGeom>
          <a:noFill/>
          <a:ln/>
        </p:spPr>
        <p:txBody>
          <a:bodyPr wrap="square" lIns="0" tIns="0" rIns="0" bIns="0" rtlCol="0" anchor="ctr"/>
          <a:lstStyle/>
          <a:p>
            <a:pPr algn="ctr" indent="0" marL="0">
              <a:buNone/>
            </a:pPr>
            <a:r>
              <a:rPr lang="en-US" sz="1050" dirty="0">
                <a:solidFill>
                  <a:srgbClr val="F8FAFC"/>
                </a:solidFill>
                <a:latin typeface="Calibri" pitchFamily="34" charset="0"/>
                <a:ea typeface="Calibri" pitchFamily="34" charset="-122"/>
                <a:cs typeface="Calibri" pitchFamily="34" charset="-120"/>
              </a:rPr>
              <a:t>Channel</a:t>
            </a:r>
            <a:endParaRPr lang="en-US" sz="1050" dirty="0"/>
          </a:p>
        </p:txBody>
      </p:sp>
      <p:sp>
        <p:nvSpPr>
          <p:cNvPr id="34" name="Text 31"/>
          <p:cNvSpPr/>
          <p:nvPr/>
        </p:nvSpPr>
        <p:spPr>
          <a:xfrm>
            <a:off x="822960" y="4334256"/>
            <a:ext cx="4480560" cy="237744"/>
          </a:xfrm>
          <a:prstGeom prst="rect">
            <a:avLst/>
          </a:prstGeom>
          <a:noFill/>
          <a:ln/>
        </p:spPr>
        <p:txBody>
          <a:bodyPr wrap="square"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Composer  →  Graph Mind (UI / MCP)  →  live audience set</a:t>
            </a:r>
            <a:endParaRPr lang="en-US" sz="1050" dirty="0"/>
          </a:p>
        </p:txBody>
      </p:sp>
      <p:sp>
        <p:nvSpPr>
          <p:cNvPr id="35" name="Text 32"/>
          <p:cNvSpPr/>
          <p:nvPr/>
        </p:nvSpPr>
        <p:spPr>
          <a:xfrm>
            <a:off x="5715000" y="1536192"/>
            <a:ext cx="2926080" cy="219456"/>
          </a:xfrm>
          <a:prstGeom prst="rect">
            <a:avLst/>
          </a:prstGeom>
          <a:noFill/>
          <a:ln/>
        </p:spPr>
        <p:txBody>
          <a:bodyPr wrap="square" rtlCol="0" anchor="ctr"/>
          <a:lstStyle/>
          <a:p>
            <a:pPr indent="0" marL="0">
              <a:buNone/>
            </a:pPr>
            <a:r>
              <a:rPr lang="en-US" sz="900" b="1" spc="200" kern="0" dirty="0">
                <a:solidFill>
                  <a:srgbClr val="2DD4BF"/>
                </a:solidFill>
                <a:latin typeface="Arial" pitchFamily="34" charset="0"/>
                <a:ea typeface="Arial" pitchFamily="34" charset="-122"/>
                <a:cs typeface="Arial" pitchFamily="34" charset="-120"/>
              </a:rPr>
              <a:t>ALSO UNLOCKS</a:t>
            </a:r>
            <a:endParaRPr lang="en-US" sz="900" dirty="0"/>
          </a:p>
        </p:txBody>
      </p:sp>
      <p:sp>
        <p:nvSpPr>
          <p:cNvPr id="36" name="Shape 33"/>
          <p:cNvSpPr/>
          <p:nvPr/>
        </p:nvSpPr>
        <p:spPr>
          <a:xfrm>
            <a:off x="5715000" y="1810512"/>
            <a:ext cx="2880360" cy="868680"/>
          </a:xfrm>
          <a:prstGeom prst="roundRect">
            <a:avLst>
              <a:gd name="adj" fmla="val 947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37" name="Shape 34"/>
          <p:cNvSpPr/>
          <p:nvPr/>
        </p:nvSpPr>
        <p:spPr>
          <a:xfrm>
            <a:off x="5943600" y="2029968"/>
            <a:ext cx="429768" cy="429768"/>
          </a:xfrm>
          <a:prstGeom prst="ellipse">
            <a:avLst/>
          </a:prstGeom>
          <a:solidFill>
            <a:srgbClr val="0E1730"/>
          </a:solidFill>
          <a:ln w="12700">
            <a:solidFill>
              <a:srgbClr val="2DD4BF">
                <a:alpha val="58000"/>
              </a:srgbClr>
            </a:solidFill>
            <a:prstDash val="solid"/>
          </a:ln>
        </p:spPr>
      </p:sp>
      <p:pic>
        <p:nvPicPr>
          <p:cNvPr id="38" name="Image 1" descr="preencoded.png">    </p:cNvPr>
          <p:cNvPicPr>
            <a:picLocks noChangeAspect="1"/>
          </p:cNvPicPr>
          <p:nvPr/>
        </p:nvPicPr>
        <p:blipFill>
          <a:blip r:embed="rId2"/>
          <a:stretch>
            <a:fillRect/>
          </a:stretch>
        </p:blipFill>
        <p:spPr>
          <a:xfrm>
            <a:off x="6044184" y="2135124"/>
            <a:ext cx="228600" cy="228600"/>
          </a:xfrm>
          <a:prstGeom prst="rect">
            <a:avLst/>
          </a:prstGeom>
        </p:spPr>
      </p:pic>
      <p:sp>
        <p:nvSpPr>
          <p:cNvPr id="39" name="Text 35"/>
          <p:cNvSpPr/>
          <p:nvPr/>
        </p:nvSpPr>
        <p:spPr>
          <a:xfrm>
            <a:off x="6492240" y="1947672"/>
            <a:ext cx="1965960" cy="292608"/>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Reach &amp; de-dupe</a:t>
            </a:r>
            <a:endParaRPr lang="en-US" sz="1300" dirty="0"/>
          </a:p>
        </p:txBody>
      </p:sp>
      <p:sp>
        <p:nvSpPr>
          <p:cNvPr id="40" name="Text 36"/>
          <p:cNvSpPr/>
          <p:nvPr/>
        </p:nvSpPr>
        <p:spPr>
          <a:xfrm>
            <a:off x="6492240" y="2231136"/>
            <a:ext cx="1993392" cy="384048"/>
          </a:xfrm>
          <a:prstGeom prst="rect">
            <a:avLst/>
          </a:prstGeom>
          <a:noFill/>
          <a:ln/>
        </p:spPr>
        <p:txBody>
          <a:bodyPr wrap="square" rtlCol="0" anchor="ctr"/>
          <a:lstStyle/>
          <a:p>
            <a:pPr indent="0" marL="0">
              <a:lnSpc>
                <a:spcPct val="98000"/>
              </a:lnSpc>
              <a:buNone/>
            </a:pPr>
            <a:r>
              <a:rPr lang="en-US" sz="1000" dirty="0">
                <a:solidFill>
                  <a:srgbClr val="94A3B8"/>
                </a:solidFill>
                <a:latin typeface="Calibri" pitchFamily="34" charset="0"/>
                <a:ea typeface="Calibri" pitchFamily="34" charset="-122"/>
                <a:cs typeface="Calibri" pitchFamily="34" charset="-120"/>
              </a:rPr>
              <a:t>Who a broadcast hits, duplicates collapsed across channels.</a:t>
            </a:r>
            <a:endParaRPr lang="en-US" sz="1000" dirty="0"/>
          </a:p>
        </p:txBody>
      </p:sp>
      <p:sp>
        <p:nvSpPr>
          <p:cNvPr id="41" name="Shape 37"/>
          <p:cNvSpPr/>
          <p:nvPr/>
        </p:nvSpPr>
        <p:spPr>
          <a:xfrm>
            <a:off x="5715000" y="2752344"/>
            <a:ext cx="2880360" cy="868680"/>
          </a:xfrm>
          <a:prstGeom prst="roundRect">
            <a:avLst>
              <a:gd name="adj" fmla="val 947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42" name="Shape 38"/>
          <p:cNvSpPr/>
          <p:nvPr/>
        </p:nvSpPr>
        <p:spPr>
          <a:xfrm>
            <a:off x="5943600" y="2971800"/>
            <a:ext cx="429768" cy="429768"/>
          </a:xfrm>
          <a:prstGeom prst="ellipse">
            <a:avLst/>
          </a:prstGeom>
          <a:solidFill>
            <a:srgbClr val="0E1730"/>
          </a:solidFill>
          <a:ln w="12700">
            <a:solidFill>
              <a:srgbClr val="2DD4BF">
                <a:alpha val="58000"/>
              </a:srgbClr>
            </a:solidFill>
            <a:prstDash val="solid"/>
          </a:ln>
        </p:spPr>
      </p:sp>
      <p:pic>
        <p:nvPicPr>
          <p:cNvPr id="43" name="Image 2" descr="preencoded.png">    </p:cNvPr>
          <p:cNvPicPr>
            <a:picLocks noChangeAspect="1"/>
          </p:cNvPicPr>
          <p:nvPr/>
        </p:nvPicPr>
        <p:blipFill>
          <a:blip r:embed="rId3"/>
          <a:stretch>
            <a:fillRect/>
          </a:stretch>
        </p:blipFill>
        <p:spPr>
          <a:xfrm>
            <a:off x="6044184" y="3076956"/>
            <a:ext cx="228600" cy="228600"/>
          </a:xfrm>
          <a:prstGeom prst="rect">
            <a:avLst/>
          </a:prstGeom>
        </p:spPr>
      </p:pic>
      <p:sp>
        <p:nvSpPr>
          <p:cNvPr id="44" name="Text 39"/>
          <p:cNvSpPr/>
          <p:nvPr/>
        </p:nvSpPr>
        <p:spPr>
          <a:xfrm>
            <a:off x="6492240" y="2889504"/>
            <a:ext cx="1965960" cy="292608"/>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Escalation paths</a:t>
            </a:r>
            <a:endParaRPr lang="en-US" sz="1300" dirty="0"/>
          </a:p>
        </p:txBody>
      </p:sp>
      <p:sp>
        <p:nvSpPr>
          <p:cNvPr id="45" name="Text 40"/>
          <p:cNvSpPr/>
          <p:nvPr/>
        </p:nvSpPr>
        <p:spPr>
          <a:xfrm>
            <a:off x="6492240" y="3172968"/>
            <a:ext cx="1993392" cy="384048"/>
          </a:xfrm>
          <a:prstGeom prst="rect">
            <a:avLst/>
          </a:prstGeom>
          <a:noFill/>
          <a:ln/>
        </p:spPr>
        <p:txBody>
          <a:bodyPr wrap="square" rtlCol="0" anchor="ctr"/>
          <a:lstStyle/>
          <a:p>
            <a:pPr indent="0" marL="0">
              <a:lnSpc>
                <a:spcPct val="98000"/>
              </a:lnSpc>
              <a:buNone/>
            </a:pPr>
            <a:r>
              <a:rPr lang="en-US" sz="1000" dirty="0">
                <a:solidFill>
                  <a:srgbClr val="94A3B8"/>
                </a:solidFill>
                <a:latin typeface="Calibri" pitchFamily="34" charset="0"/>
                <a:ea typeface="Calibri" pitchFamily="34" charset="-122"/>
                <a:cs typeface="Calibri" pitchFamily="34" charset="-120"/>
              </a:rPr>
              <a:t>Walk the chain of command to find who to notify next.</a:t>
            </a:r>
            <a:endParaRPr lang="en-US" sz="1000" dirty="0"/>
          </a:p>
        </p:txBody>
      </p:sp>
      <p:sp>
        <p:nvSpPr>
          <p:cNvPr id="46" name="Shape 41"/>
          <p:cNvSpPr/>
          <p:nvPr/>
        </p:nvSpPr>
        <p:spPr>
          <a:xfrm>
            <a:off x="5715000" y="3694176"/>
            <a:ext cx="2880360" cy="868680"/>
          </a:xfrm>
          <a:prstGeom prst="roundRect">
            <a:avLst>
              <a:gd name="adj" fmla="val 947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47" name="Shape 42"/>
          <p:cNvSpPr/>
          <p:nvPr/>
        </p:nvSpPr>
        <p:spPr>
          <a:xfrm>
            <a:off x="5943600" y="3913632"/>
            <a:ext cx="429768" cy="429768"/>
          </a:xfrm>
          <a:prstGeom prst="ellipse">
            <a:avLst/>
          </a:prstGeom>
          <a:solidFill>
            <a:srgbClr val="0E1730"/>
          </a:solidFill>
          <a:ln w="12700">
            <a:solidFill>
              <a:srgbClr val="2DD4BF">
                <a:alpha val="58000"/>
              </a:srgbClr>
            </a:solidFill>
            <a:prstDash val="solid"/>
          </a:ln>
        </p:spPr>
      </p:sp>
      <p:pic>
        <p:nvPicPr>
          <p:cNvPr id="48" name="Image 3" descr="preencoded.png">    </p:cNvPr>
          <p:cNvPicPr>
            <a:picLocks noChangeAspect="1"/>
          </p:cNvPicPr>
          <p:nvPr/>
        </p:nvPicPr>
        <p:blipFill>
          <a:blip r:embed="rId4"/>
          <a:stretch>
            <a:fillRect/>
          </a:stretch>
        </p:blipFill>
        <p:spPr>
          <a:xfrm>
            <a:off x="6044184" y="4018788"/>
            <a:ext cx="228600" cy="228600"/>
          </a:xfrm>
          <a:prstGeom prst="rect">
            <a:avLst/>
          </a:prstGeom>
        </p:spPr>
      </p:pic>
      <p:sp>
        <p:nvSpPr>
          <p:cNvPr id="49" name="Text 43"/>
          <p:cNvSpPr/>
          <p:nvPr/>
        </p:nvSpPr>
        <p:spPr>
          <a:xfrm>
            <a:off x="6492240" y="3831336"/>
            <a:ext cx="1965960" cy="292608"/>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Always live</a:t>
            </a:r>
            <a:endParaRPr lang="en-US" sz="1300" dirty="0"/>
          </a:p>
        </p:txBody>
      </p:sp>
      <p:sp>
        <p:nvSpPr>
          <p:cNvPr id="50" name="Text 44"/>
          <p:cNvSpPr/>
          <p:nvPr/>
        </p:nvSpPr>
        <p:spPr>
          <a:xfrm>
            <a:off x="6492240" y="4114800"/>
            <a:ext cx="1993392" cy="384048"/>
          </a:xfrm>
          <a:prstGeom prst="rect">
            <a:avLst/>
          </a:prstGeom>
          <a:noFill/>
          <a:ln/>
        </p:spPr>
        <p:txBody>
          <a:bodyPr wrap="square" rtlCol="0" anchor="ctr"/>
          <a:lstStyle/>
          <a:p>
            <a:pPr indent="0" marL="0">
              <a:lnSpc>
                <a:spcPct val="98000"/>
              </a:lnSpc>
              <a:buNone/>
            </a:pPr>
            <a:r>
              <a:rPr lang="en-US" sz="1000" dirty="0">
                <a:solidFill>
                  <a:srgbClr val="94A3B8"/>
                </a:solidFill>
                <a:latin typeface="Calibri" pitchFamily="34" charset="0"/>
                <a:ea typeface="Calibri" pitchFamily="34" charset="-122"/>
                <a:cs typeface="Calibri" pitchFamily="34" charset="-120"/>
              </a:rPr>
              <a:t>Audiences refresh as the graph changes — never stale.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1"/>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411480"/>
            <a:ext cx="8229600" cy="54864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Beyond employees</a:t>
            </a:r>
            <a:endParaRPr lang="en-US" sz="3400" dirty="0"/>
          </a:p>
        </p:txBody>
      </p:sp>
      <p:sp>
        <p:nvSpPr>
          <p:cNvPr id="5" name="Text 3"/>
          <p:cNvSpPr/>
          <p:nvPr/>
        </p:nvSpPr>
        <p:spPr>
          <a:xfrm>
            <a:off x="548640" y="1024128"/>
            <a:ext cx="82296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The same server works for any connected data. Employees were just the start.</a:t>
            </a:r>
            <a:endParaRPr lang="en-US" sz="1600" dirty="0"/>
          </a:p>
        </p:txBody>
      </p:sp>
      <p:sp>
        <p:nvSpPr>
          <p:cNvPr id="6" name="Shape 4"/>
          <p:cNvSpPr/>
          <p:nvPr/>
        </p:nvSpPr>
        <p:spPr>
          <a:xfrm>
            <a:off x="548640" y="1783080"/>
            <a:ext cx="2615184" cy="1280160"/>
          </a:xfrm>
          <a:prstGeom prst="roundRect">
            <a:avLst>
              <a:gd name="adj" fmla="val 571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7" name="Shape 5"/>
          <p:cNvSpPr/>
          <p:nvPr/>
        </p:nvSpPr>
        <p:spPr>
          <a:xfrm>
            <a:off x="777240" y="2011680"/>
            <a:ext cx="566928" cy="566928"/>
          </a:xfrm>
          <a:prstGeom prst="ellipse">
            <a:avLst/>
          </a:prstGeom>
          <a:solidFill>
            <a:srgbClr val="0E1730"/>
          </a:solidFill>
          <a:ln w="12700">
            <a:solidFill>
              <a:srgbClr val="2DD4BF">
                <a:alpha val="55000"/>
              </a:srgbClr>
            </a:solidFill>
            <a:prstDash val="solid"/>
          </a:ln>
        </p:spPr>
      </p:sp>
      <p:pic>
        <p:nvPicPr>
          <p:cNvPr id="8" name="Image 0" descr="preencoded.png">    </p:cNvPr>
          <p:cNvPicPr>
            <a:picLocks noChangeAspect="1"/>
          </p:cNvPicPr>
          <p:nvPr/>
        </p:nvPicPr>
        <p:blipFill>
          <a:blip r:embed="rId1"/>
          <a:stretch>
            <a:fillRect/>
          </a:stretch>
        </p:blipFill>
        <p:spPr>
          <a:xfrm>
            <a:off x="905256" y="2139696"/>
            <a:ext cx="310896" cy="310896"/>
          </a:xfrm>
          <a:prstGeom prst="rect">
            <a:avLst/>
          </a:prstGeom>
        </p:spPr>
      </p:pic>
      <p:sp>
        <p:nvSpPr>
          <p:cNvPr id="9" name="Text 6"/>
          <p:cNvSpPr/>
          <p:nvPr/>
        </p:nvSpPr>
        <p:spPr>
          <a:xfrm>
            <a:off x="1463040" y="2002536"/>
            <a:ext cx="1600200" cy="365760"/>
          </a:xfrm>
          <a:prstGeom prst="rect">
            <a:avLst/>
          </a:prstGeom>
          <a:noFill/>
          <a:ln/>
        </p:spPr>
        <p:txBody>
          <a:bodyPr wrap="square" rtlCol="0" anchor="ctr"/>
          <a:lstStyle/>
          <a:p>
            <a:pPr indent="0" marL="0">
              <a:buNone/>
            </a:pPr>
            <a:r>
              <a:rPr lang="en-US" sz="1450" b="1" dirty="0">
                <a:solidFill>
                  <a:srgbClr val="F8FAFC"/>
                </a:solidFill>
                <a:latin typeface="Arial" pitchFamily="34" charset="0"/>
                <a:ea typeface="Arial" pitchFamily="34" charset="-122"/>
                <a:cs typeface="Arial" pitchFamily="34" charset="-120"/>
              </a:rPr>
              <a:t>Org intelligence</a:t>
            </a:r>
            <a:endParaRPr lang="en-US" sz="1450" dirty="0"/>
          </a:p>
        </p:txBody>
      </p:sp>
      <p:sp>
        <p:nvSpPr>
          <p:cNvPr id="10" name="Text 7"/>
          <p:cNvSpPr/>
          <p:nvPr/>
        </p:nvSpPr>
        <p:spPr>
          <a:xfrm>
            <a:off x="1463040" y="2350008"/>
            <a:ext cx="1627632" cy="640080"/>
          </a:xfrm>
          <a:prstGeom prst="rect">
            <a:avLst/>
          </a:prstGeom>
          <a:noFill/>
          <a:ln/>
        </p:spPr>
        <p:txBody>
          <a:bodyPr wrap="square" rtlCol="0" anchor="ctr"/>
          <a:lstStyle/>
          <a:p>
            <a:pPr indent="0" marL="0">
              <a:lnSpc>
                <a:spcPct val="100000"/>
              </a:lnSpc>
              <a:buNone/>
            </a:pPr>
            <a:r>
              <a:rPr lang="en-US" sz="1100" dirty="0">
                <a:solidFill>
                  <a:srgbClr val="94A3B8"/>
                </a:solidFill>
                <a:latin typeface="Calibri" pitchFamily="34" charset="0"/>
                <a:ea typeface="Calibri" pitchFamily="34" charset="-122"/>
                <a:cs typeface="Calibri" pitchFamily="34" charset="-120"/>
              </a:rPr>
              <a:t>Reporting lines, span of control, team topology.</a:t>
            </a:r>
            <a:endParaRPr lang="en-US" sz="1100" dirty="0"/>
          </a:p>
        </p:txBody>
      </p:sp>
      <p:sp>
        <p:nvSpPr>
          <p:cNvPr id="11" name="Shape 8"/>
          <p:cNvSpPr/>
          <p:nvPr/>
        </p:nvSpPr>
        <p:spPr>
          <a:xfrm>
            <a:off x="3346704" y="1783080"/>
            <a:ext cx="2615184" cy="1280160"/>
          </a:xfrm>
          <a:prstGeom prst="roundRect">
            <a:avLst>
              <a:gd name="adj" fmla="val 571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2" name="Shape 9"/>
          <p:cNvSpPr/>
          <p:nvPr/>
        </p:nvSpPr>
        <p:spPr>
          <a:xfrm>
            <a:off x="3575304" y="2011680"/>
            <a:ext cx="566928" cy="566928"/>
          </a:xfrm>
          <a:prstGeom prst="ellipse">
            <a:avLst/>
          </a:prstGeom>
          <a:solidFill>
            <a:srgbClr val="0E1730"/>
          </a:solidFill>
          <a:ln w="12700">
            <a:solidFill>
              <a:srgbClr val="2DD4BF">
                <a:alpha val="55000"/>
              </a:srgbClr>
            </a:solidFill>
            <a:prstDash val="solid"/>
          </a:ln>
        </p:spPr>
      </p:sp>
      <p:pic>
        <p:nvPicPr>
          <p:cNvPr id="13" name="Image 1" descr="preencoded.png">    </p:cNvPr>
          <p:cNvPicPr>
            <a:picLocks noChangeAspect="1"/>
          </p:cNvPicPr>
          <p:nvPr/>
        </p:nvPicPr>
        <p:blipFill>
          <a:blip r:embed="rId2"/>
          <a:stretch>
            <a:fillRect/>
          </a:stretch>
        </p:blipFill>
        <p:spPr>
          <a:xfrm>
            <a:off x="3703320" y="2139696"/>
            <a:ext cx="310896" cy="310896"/>
          </a:xfrm>
          <a:prstGeom prst="rect">
            <a:avLst/>
          </a:prstGeom>
        </p:spPr>
      </p:pic>
      <p:sp>
        <p:nvSpPr>
          <p:cNvPr id="14" name="Text 10"/>
          <p:cNvSpPr/>
          <p:nvPr/>
        </p:nvSpPr>
        <p:spPr>
          <a:xfrm>
            <a:off x="4261104" y="2002536"/>
            <a:ext cx="1600200" cy="365760"/>
          </a:xfrm>
          <a:prstGeom prst="rect">
            <a:avLst/>
          </a:prstGeom>
          <a:noFill/>
          <a:ln/>
        </p:spPr>
        <p:txBody>
          <a:bodyPr wrap="square" rtlCol="0" anchor="ctr"/>
          <a:lstStyle/>
          <a:p>
            <a:pPr indent="0" marL="0">
              <a:buNone/>
            </a:pPr>
            <a:r>
              <a:rPr lang="en-US" sz="1450" b="1" dirty="0">
                <a:solidFill>
                  <a:srgbClr val="F8FAFC"/>
                </a:solidFill>
                <a:latin typeface="Arial" pitchFamily="34" charset="0"/>
                <a:ea typeface="Arial" pitchFamily="34" charset="-122"/>
                <a:cs typeface="Arial" pitchFamily="34" charset="-120"/>
              </a:rPr>
              <a:t>Skills discovery</a:t>
            </a:r>
            <a:endParaRPr lang="en-US" sz="1450" dirty="0"/>
          </a:p>
        </p:txBody>
      </p:sp>
      <p:sp>
        <p:nvSpPr>
          <p:cNvPr id="15" name="Text 11"/>
          <p:cNvSpPr/>
          <p:nvPr/>
        </p:nvSpPr>
        <p:spPr>
          <a:xfrm>
            <a:off x="4261104" y="2350008"/>
            <a:ext cx="1627632" cy="640080"/>
          </a:xfrm>
          <a:prstGeom prst="rect">
            <a:avLst/>
          </a:prstGeom>
          <a:noFill/>
          <a:ln/>
        </p:spPr>
        <p:txBody>
          <a:bodyPr wrap="square" rtlCol="0" anchor="ctr"/>
          <a:lstStyle/>
          <a:p>
            <a:pPr indent="0" marL="0">
              <a:lnSpc>
                <a:spcPct val="100000"/>
              </a:lnSpc>
              <a:buNone/>
            </a:pPr>
            <a:r>
              <a:rPr lang="en-US" sz="1100" dirty="0">
                <a:solidFill>
                  <a:srgbClr val="94A3B8"/>
                </a:solidFill>
                <a:latin typeface="Calibri" pitchFamily="34" charset="0"/>
                <a:ea typeface="Calibri" pitchFamily="34" charset="-122"/>
                <a:cs typeface="Calibri" pitchFamily="34" charset="-120"/>
              </a:rPr>
              <a:t>Find who knows what, across the whole company.</a:t>
            </a:r>
            <a:endParaRPr lang="en-US" sz="1100" dirty="0"/>
          </a:p>
        </p:txBody>
      </p:sp>
      <p:sp>
        <p:nvSpPr>
          <p:cNvPr id="16" name="Shape 12"/>
          <p:cNvSpPr/>
          <p:nvPr/>
        </p:nvSpPr>
        <p:spPr>
          <a:xfrm>
            <a:off x="6144768" y="1783080"/>
            <a:ext cx="2615184" cy="1280160"/>
          </a:xfrm>
          <a:prstGeom prst="roundRect">
            <a:avLst>
              <a:gd name="adj" fmla="val 571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7" name="Shape 13"/>
          <p:cNvSpPr/>
          <p:nvPr/>
        </p:nvSpPr>
        <p:spPr>
          <a:xfrm>
            <a:off x="6373368" y="2011680"/>
            <a:ext cx="566928" cy="566928"/>
          </a:xfrm>
          <a:prstGeom prst="ellipse">
            <a:avLst/>
          </a:prstGeom>
          <a:solidFill>
            <a:srgbClr val="0E1730"/>
          </a:solidFill>
          <a:ln w="12700">
            <a:solidFill>
              <a:srgbClr val="2DD4BF">
                <a:alpha val="55000"/>
              </a:srgbClr>
            </a:solidFill>
            <a:prstDash val="solid"/>
          </a:ln>
        </p:spPr>
      </p:sp>
      <p:pic>
        <p:nvPicPr>
          <p:cNvPr id="18" name="Image 2" descr="preencoded.png">    </p:cNvPr>
          <p:cNvPicPr>
            <a:picLocks noChangeAspect="1"/>
          </p:cNvPicPr>
          <p:nvPr/>
        </p:nvPicPr>
        <p:blipFill>
          <a:blip r:embed="rId3"/>
          <a:stretch>
            <a:fillRect/>
          </a:stretch>
        </p:blipFill>
        <p:spPr>
          <a:xfrm>
            <a:off x="6501384" y="2139696"/>
            <a:ext cx="310896" cy="310896"/>
          </a:xfrm>
          <a:prstGeom prst="rect">
            <a:avLst/>
          </a:prstGeom>
        </p:spPr>
      </p:pic>
      <p:sp>
        <p:nvSpPr>
          <p:cNvPr id="19" name="Text 14"/>
          <p:cNvSpPr/>
          <p:nvPr/>
        </p:nvSpPr>
        <p:spPr>
          <a:xfrm>
            <a:off x="7059168" y="2002536"/>
            <a:ext cx="1600200" cy="365760"/>
          </a:xfrm>
          <a:prstGeom prst="rect">
            <a:avLst/>
          </a:prstGeom>
          <a:noFill/>
          <a:ln/>
        </p:spPr>
        <p:txBody>
          <a:bodyPr wrap="square" rtlCol="0" anchor="ctr"/>
          <a:lstStyle/>
          <a:p>
            <a:pPr indent="0" marL="0">
              <a:buNone/>
            </a:pPr>
            <a:r>
              <a:rPr lang="en-US" sz="1450" b="1" dirty="0">
                <a:solidFill>
                  <a:srgbClr val="F8FAFC"/>
                </a:solidFill>
                <a:latin typeface="Arial" pitchFamily="34" charset="0"/>
                <a:ea typeface="Arial" pitchFamily="34" charset="-122"/>
                <a:cs typeface="Arial" pitchFamily="34" charset="-120"/>
              </a:rPr>
              <a:t>Succession &amp; impact</a:t>
            </a:r>
            <a:endParaRPr lang="en-US" sz="1450" dirty="0"/>
          </a:p>
        </p:txBody>
      </p:sp>
      <p:sp>
        <p:nvSpPr>
          <p:cNvPr id="20" name="Text 15"/>
          <p:cNvSpPr/>
          <p:nvPr/>
        </p:nvSpPr>
        <p:spPr>
          <a:xfrm>
            <a:off x="7059168" y="2350008"/>
            <a:ext cx="1627632" cy="640080"/>
          </a:xfrm>
          <a:prstGeom prst="rect">
            <a:avLst/>
          </a:prstGeom>
          <a:noFill/>
          <a:ln/>
        </p:spPr>
        <p:txBody>
          <a:bodyPr wrap="square" rtlCol="0" anchor="ctr"/>
          <a:lstStyle/>
          <a:p>
            <a:pPr indent="0" marL="0">
              <a:lnSpc>
                <a:spcPct val="100000"/>
              </a:lnSpc>
              <a:buNone/>
            </a:pPr>
            <a:r>
              <a:rPr lang="en-US" sz="1100" dirty="0">
                <a:solidFill>
                  <a:srgbClr val="94A3B8"/>
                </a:solidFill>
                <a:latin typeface="Calibri" pitchFamily="34" charset="0"/>
                <a:ea typeface="Calibri" pitchFamily="34" charset="-122"/>
                <a:cs typeface="Calibri" pitchFamily="34" charset="-120"/>
              </a:rPr>
              <a:t>Who can cover a role; what breaks if someone leaves.</a:t>
            </a:r>
            <a:endParaRPr lang="en-US" sz="1100" dirty="0"/>
          </a:p>
        </p:txBody>
      </p:sp>
      <p:sp>
        <p:nvSpPr>
          <p:cNvPr id="21" name="Shape 16"/>
          <p:cNvSpPr/>
          <p:nvPr/>
        </p:nvSpPr>
        <p:spPr>
          <a:xfrm>
            <a:off x="548640" y="3200400"/>
            <a:ext cx="2615184" cy="1280160"/>
          </a:xfrm>
          <a:prstGeom prst="roundRect">
            <a:avLst>
              <a:gd name="adj" fmla="val 571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2" name="Shape 17"/>
          <p:cNvSpPr/>
          <p:nvPr/>
        </p:nvSpPr>
        <p:spPr>
          <a:xfrm>
            <a:off x="777240" y="3429000"/>
            <a:ext cx="566928" cy="566928"/>
          </a:xfrm>
          <a:prstGeom prst="ellipse">
            <a:avLst/>
          </a:prstGeom>
          <a:solidFill>
            <a:srgbClr val="0E1730"/>
          </a:solidFill>
          <a:ln w="12700">
            <a:solidFill>
              <a:srgbClr val="2DD4BF">
                <a:alpha val="55000"/>
              </a:srgbClr>
            </a:solidFill>
            <a:prstDash val="solid"/>
          </a:ln>
        </p:spPr>
      </p:sp>
      <p:pic>
        <p:nvPicPr>
          <p:cNvPr id="23" name="Image 3" descr="preencoded.png">    </p:cNvPr>
          <p:cNvPicPr>
            <a:picLocks noChangeAspect="1"/>
          </p:cNvPicPr>
          <p:nvPr/>
        </p:nvPicPr>
        <p:blipFill>
          <a:blip r:embed="rId4"/>
          <a:stretch>
            <a:fillRect/>
          </a:stretch>
        </p:blipFill>
        <p:spPr>
          <a:xfrm>
            <a:off x="905256" y="3557016"/>
            <a:ext cx="310896" cy="310896"/>
          </a:xfrm>
          <a:prstGeom prst="rect">
            <a:avLst/>
          </a:prstGeom>
        </p:spPr>
      </p:pic>
      <p:sp>
        <p:nvSpPr>
          <p:cNvPr id="24" name="Text 18"/>
          <p:cNvSpPr/>
          <p:nvPr/>
        </p:nvSpPr>
        <p:spPr>
          <a:xfrm>
            <a:off x="1463040" y="3419856"/>
            <a:ext cx="1600200" cy="365760"/>
          </a:xfrm>
          <a:prstGeom prst="rect">
            <a:avLst/>
          </a:prstGeom>
          <a:noFill/>
          <a:ln/>
        </p:spPr>
        <p:txBody>
          <a:bodyPr wrap="square" rtlCol="0" anchor="ctr"/>
          <a:lstStyle/>
          <a:p>
            <a:pPr indent="0" marL="0">
              <a:buNone/>
            </a:pPr>
            <a:r>
              <a:rPr lang="en-US" sz="1450" b="1" dirty="0">
                <a:solidFill>
                  <a:srgbClr val="F8FAFC"/>
                </a:solidFill>
                <a:latin typeface="Arial" pitchFamily="34" charset="0"/>
                <a:ea typeface="Arial" pitchFamily="34" charset="-122"/>
                <a:cs typeface="Arial" pitchFamily="34" charset="-120"/>
              </a:rPr>
              <a:t>Collaboration graph</a:t>
            </a:r>
            <a:endParaRPr lang="en-US" sz="1450" dirty="0"/>
          </a:p>
        </p:txBody>
      </p:sp>
      <p:sp>
        <p:nvSpPr>
          <p:cNvPr id="25" name="Text 19"/>
          <p:cNvSpPr/>
          <p:nvPr/>
        </p:nvSpPr>
        <p:spPr>
          <a:xfrm>
            <a:off x="1463040" y="3767328"/>
            <a:ext cx="1627632" cy="640080"/>
          </a:xfrm>
          <a:prstGeom prst="rect">
            <a:avLst/>
          </a:prstGeom>
          <a:noFill/>
          <a:ln/>
        </p:spPr>
        <p:txBody>
          <a:bodyPr wrap="square" rtlCol="0" anchor="ctr"/>
          <a:lstStyle/>
          <a:p>
            <a:pPr indent="0" marL="0">
              <a:lnSpc>
                <a:spcPct val="100000"/>
              </a:lnSpc>
              <a:buNone/>
            </a:pPr>
            <a:r>
              <a:rPr lang="en-US" sz="1100" dirty="0">
                <a:solidFill>
                  <a:srgbClr val="94A3B8"/>
                </a:solidFill>
                <a:latin typeface="Calibri" pitchFamily="34" charset="0"/>
                <a:ea typeface="Calibri" pitchFamily="34" charset="-122"/>
                <a:cs typeface="Calibri" pitchFamily="34" charset="-120"/>
              </a:rPr>
              <a:t>Who works with whom; hidden connectors.</a:t>
            </a:r>
            <a:endParaRPr lang="en-US" sz="1100" dirty="0"/>
          </a:p>
        </p:txBody>
      </p:sp>
      <p:sp>
        <p:nvSpPr>
          <p:cNvPr id="26" name="Shape 20"/>
          <p:cNvSpPr/>
          <p:nvPr/>
        </p:nvSpPr>
        <p:spPr>
          <a:xfrm>
            <a:off x="3346704" y="3200400"/>
            <a:ext cx="2615184" cy="1280160"/>
          </a:xfrm>
          <a:prstGeom prst="roundRect">
            <a:avLst>
              <a:gd name="adj" fmla="val 571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7" name="Shape 21"/>
          <p:cNvSpPr/>
          <p:nvPr/>
        </p:nvSpPr>
        <p:spPr>
          <a:xfrm>
            <a:off x="3575304" y="3429000"/>
            <a:ext cx="566928" cy="566928"/>
          </a:xfrm>
          <a:prstGeom prst="ellipse">
            <a:avLst/>
          </a:prstGeom>
          <a:solidFill>
            <a:srgbClr val="0E1730"/>
          </a:solidFill>
          <a:ln w="12700">
            <a:solidFill>
              <a:srgbClr val="2DD4BF">
                <a:alpha val="55000"/>
              </a:srgbClr>
            </a:solidFill>
            <a:prstDash val="solid"/>
          </a:ln>
        </p:spPr>
      </p:sp>
      <p:pic>
        <p:nvPicPr>
          <p:cNvPr id="28" name="Image 4" descr="preencoded.png">    </p:cNvPr>
          <p:cNvPicPr>
            <a:picLocks noChangeAspect="1"/>
          </p:cNvPicPr>
          <p:nvPr/>
        </p:nvPicPr>
        <p:blipFill>
          <a:blip r:embed="rId5"/>
          <a:stretch>
            <a:fillRect/>
          </a:stretch>
        </p:blipFill>
        <p:spPr>
          <a:xfrm>
            <a:off x="3703320" y="3557016"/>
            <a:ext cx="310896" cy="310896"/>
          </a:xfrm>
          <a:prstGeom prst="rect">
            <a:avLst/>
          </a:prstGeom>
        </p:spPr>
      </p:pic>
      <p:sp>
        <p:nvSpPr>
          <p:cNvPr id="29" name="Text 22"/>
          <p:cNvSpPr/>
          <p:nvPr/>
        </p:nvSpPr>
        <p:spPr>
          <a:xfrm>
            <a:off x="4261104" y="3419856"/>
            <a:ext cx="1600200" cy="365760"/>
          </a:xfrm>
          <a:prstGeom prst="rect">
            <a:avLst/>
          </a:prstGeom>
          <a:noFill/>
          <a:ln/>
        </p:spPr>
        <p:txBody>
          <a:bodyPr wrap="square" rtlCol="0" anchor="ctr"/>
          <a:lstStyle/>
          <a:p>
            <a:pPr indent="0" marL="0">
              <a:buNone/>
            </a:pPr>
            <a:r>
              <a:rPr lang="en-US" sz="1450" b="1" dirty="0">
                <a:solidFill>
                  <a:srgbClr val="F8FAFC"/>
                </a:solidFill>
                <a:latin typeface="Arial" pitchFamily="34" charset="0"/>
                <a:ea typeface="Arial" pitchFamily="34" charset="-122"/>
                <a:cs typeface="Arial" pitchFamily="34" charset="-120"/>
              </a:rPr>
              <a:t>Risk &amp; fraud</a:t>
            </a:r>
            <a:endParaRPr lang="en-US" sz="1450" dirty="0"/>
          </a:p>
        </p:txBody>
      </p:sp>
      <p:sp>
        <p:nvSpPr>
          <p:cNvPr id="30" name="Text 23"/>
          <p:cNvSpPr/>
          <p:nvPr/>
        </p:nvSpPr>
        <p:spPr>
          <a:xfrm>
            <a:off x="4261104" y="3767328"/>
            <a:ext cx="1627632" cy="640080"/>
          </a:xfrm>
          <a:prstGeom prst="rect">
            <a:avLst/>
          </a:prstGeom>
          <a:noFill/>
          <a:ln/>
        </p:spPr>
        <p:txBody>
          <a:bodyPr wrap="square" rtlCol="0" anchor="ctr"/>
          <a:lstStyle/>
          <a:p>
            <a:pPr indent="0" marL="0">
              <a:lnSpc>
                <a:spcPct val="100000"/>
              </a:lnSpc>
              <a:buNone/>
            </a:pPr>
            <a:r>
              <a:rPr lang="en-US" sz="1100" dirty="0">
                <a:solidFill>
                  <a:srgbClr val="94A3B8"/>
                </a:solidFill>
                <a:latin typeface="Calibri" pitchFamily="34" charset="0"/>
                <a:ea typeface="Calibri" pitchFamily="34" charset="-122"/>
                <a:cs typeface="Calibri" pitchFamily="34" charset="-120"/>
              </a:rPr>
              <a:t>Suspicious paths in transactions or access.</a:t>
            </a:r>
            <a:endParaRPr lang="en-US" sz="1100" dirty="0"/>
          </a:p>
        </p:txBody>
      </p:sp>
      <p:sp>
        <p:nvSpPr>
          <p:cNvPr id="31" name="Shape 24"/>
          <p:cNvSpPr/>
          <p:nvPr/>
        </p:nvSpPr>
        <p:spPr>
          <a:xfrm>
            <a:off x="6144768" y="3200400"/>
            <a:ext cx="2615184" cy="1280160"/>
          </a:xfrm>
          <a:prstGeom prst="roundRect">
            <a:avLst>
              <a:gd name="adj" fmla="val 5714"/>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32" name="Shape 25"/>
          <p:cNvSpPr/>
          <p:nvPr/>
        </p:nvSpPr>
        <p:spPr>
          <a:xfrm>
            <a:off x="6373368" y="3429000"/>
            <a:ext cx="566928" cy="566928"/>
          </a:xfrm>
          <a:prstGeom prst="ellipse">
            <a:avLst/>
          </a:prstGeom>
          <a:solidFill>
            <a:srgbClr val="0E1730"/>
          </a:solidFill>
          <a:ln w="12700">
            <a:solidFill>
              <a:srgbClr val="2DD4BF">
                <a:alpha val="55000"/>
              </a:srgbClr>
            </a:solidFill>
            <a:prstDash val="solid"/>
          </a:ln>
        </p:spPr>
      </p:sp>
      <p:pic>
        <p:nvPicPr>
          <p:cNvPr id="33" name="Image 5" descr="preencoded.png">    </p:cNvPr>
          <p:cNvPicPr>
            <a:picLocks noChangeAspect="1"/>
          </p:cNvPicPr>
          <p:nvPr/>
        </p:nvPicPr>
        <p:blipFill>
          <a:blip r:embed="rId6"/>
          <a:stretch>
            <a:fillRect/>
          </a:stretch>
        </p:blipFill>
        <p:spPr>
          <a:xfrm>
            <a:off x="6501384" y="3557016"/>
            <a:ext cx="310896" cy="310896"/>
          </a:xfrm>
          <a:prstGeom prst="rect">
            <a:avLst/>
          </a:prstGeom>
        </p:spPr>
      </p:pic>
      <p:sp>
        <p:nvSpPr>
          <p:cNvPr id="34" name="Text 26"/>
          <p:cNvSpPr/>
          <p:nvPr/>
        </p:nvSpPr>
        <p:spPr>
          <a:xfrm>
            <a:off x="7059168" y="3419856"/>
            <a:ext cx="1600200" cy="365760"/>
          </a:xfrm>
          <a:prstGeom prst="rect">
            <a:avLst/>
          </a:prstGeom>
          <a:noFill/>
          <a:ln/>
        </p:spPr>
        <p:txBody>
          <a:bodyPr wrap="square" rtlCol="0" anchor="ctr"/>
          <a:lstStyle/>
          <a:p>
            <a:pPr indent="0" marL="0">
              <a:buNone/>
            </a:pPr>
            <a:r>
              <a:rPr lang="en-US" sz="1450" b="1" dirty="0">
                <a:solidFill>
                  <a:srgbClr val="F8FAFC"/>
                </a:solidFill>
                <a:latin typeface="Arial" pitchFamily="34" charset="0"/>
                <a:ea typeface="Arial" pitchFamily="34" charset="-122"/>
                <a:cs typeface="Arial" pitchFamily="34" charset="-120"/>
              </a:rPr>
              <a:t>Any knowledge graph</a:t>
            </a:r>
            <a:endParaRPr lang="en-US" sz="1450" dirty="0"/>
          </a:p>
        </p:txBody>
      </p:sp>
      <p:sp>
        <p:nvSpPr>
          <p:cNvPr id="35" name="Text 27"/>
          <p:cNvSpPr/>
          <p:nvPr/>
        </p:nvSpPr>
        <p:spPr>
          <a:xfrm>
            <a:off x="7059168" y="3767328"/>
            <a:ext cx="1627632" cy="640080"/>
          </a:xfrm>
          <a:prstGeom prst="rect">
            <a:avLst/>
          </a:prstGeom>
          <a:noFill/>
          <a:ln/>
        </p:spPr>
        <p:txBody>
          <a:bodyPr wrap="square" rtlCol="0" anchor="ctr"/>
          <a:lstStyle/>
          <a:p>
            <a:pPr indent="0" marL="0">
              <a:lnSpc>
                <a:spcPct val="100000"/>
              </a:lnSpc>
              <a:buNone/>
            </a:pPr>
            <a:r>
              <a:rPr lang="en-US" sz="1100" dirty="0">
                <a:solidFill>
                  <a:srgbClr val="94A3B8"/>
                </a:solidFill>
                <a:latin typeface="Calibri" pitchFamily="34" charset="0"/>
                <a:ea typeface="Calibri" pitchFamily="34" charset="-122"/>
                <a:cs typeface="Calibri" pitchFamily="34" charset="-120"/>
              </a:rPr>
              <a:t>Supply chains, infra, customers — plug it in.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30"/>
        </a:solidFill>
      </p:bgPr>
    </p:bg>
    <p:spTree>
      <p:nvGrpSpPr>
        <p:cNvPr id="1" name=""/>
        <p:cNvGrpSpPr/>
        <p:nvPr/>
      </p:nvGrpSpPr>
      <p:grpSpPr>
        <a:xfrm>
          <a:off x="0" y="0"/>
          <a:ext cx="0" cy="0"/>
          <a:chOff x="0" y="0"/>
          <a:chExt cx="0" cy="0"/>
        </a:xfrm>
      </p:grpSpPr>
      <p:sp>
        <p:nvSpPr>
          <p:cNvPr id="2" name="Text 0"/>
          <p:cNvSpPr/>
          <p:nvPr/>
        </p:nvSpPr>
        <p:spPr>
          <a:xfrm>
            <a:off x="8549640" y="4736592"/>
            <a:ext cx="365760" cy="27432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
        <p:nvSpPr>
          <p:cNvPr id="3" name="Text 1"/>
          <p:cNvSpPr/>
          <p:nvPr/>
        </p:nvSpPr>
        <p:spPr>
          <a:xfrm>
            <a:off x="457200" y="4736592"/>
            <a:ext cx="2286000" cy="274320"/>
          </a:xfrm>
          <a:prstGeom prst="rect">
            <a:avLst/>
          </a:prstGeom>
          <a:noFill/>
          <a:ln/>
        </p:spPr>
        <p:txBody>
          <a:bodyPr wrap="square" rtlCol="0" anchor="ctr"/>
          <a:lstStyle/>
          <a:p>
            <a:pPr algn="l" indent="0" marL="0">
              <a:buNone/>
            </a:pPr>
            <a:r>
              <a:rPr lang="en-US" sz="800" spc="200" kern="0" dirty="0">
                <a:solidFill>
                  <a:srgbClr val="64748B"/>
                </a:solidFill>
                <a:latin typeface="Arial" pitchFamily="34" charset="0"/>
                <a:ea typeface="Arial" pitchFamily="34" charset="-122"/>
                <a:cs typeface="Arial" pitchFamily="34" charset="-120"/>
              </a:rPr>
              <a:t>GRAPH MIND</a:t>
            </a:r>
            <a:endParaRPr lang="en-US" sz="800" dirty="0"/>
          </a:p>
        </p:txBody>
      </p:sp>
      <p:sp>
        <p:nvSpPr>
          <p:cNvPr id="4" name="Text 2"/>
          <p:cNvSpPr/>
          <p:nvPr/>
        </p:nvSpPr>
        <p:spPr>
          <a:xfrm>
            <a:off x="548640" y="411480"/>
            <a:ext cx="7315200" cy="548640"/>
          </a:xfrm>
          <a:prstGeom prst="rect">
            <a:avLst/>
          </a:prstGeom>
          <a:noFill/>
          <a:ln/>
        </p:spPr>
        <p:txBody>
          <a:bodyPr wrap="square" rtlCol="0" anchor="ctr"/>
          <a:lstStyle/>
          <a:p>
            <a:pPr indent="0" marL="0">
              <a:buNone/>
            </a:pPr>
            <a:r>
              <a:rPr lang="en-US" sz="3400" b="1" dirty="0">
                <a:solidFill>
                  <a:srgbClr val="F8FAFC"/>
                </a:solidFill>
                <a:latin typeface="Arial" pitchFamily="34" charset="0"/>
                <a:ea typeface="Arial" pitchFamily="34" charset="-122"/>
                <a:cs typeface="Arial" pitchFamily="34" charset="-120"/>
              </a:rPr>
              <a:t>The stack</a:t>
            </a:r>
            <a:endParaRPr lang="en-US" sz="3400" dirty="0"/>
          </a:p>
        </p:txBody>
      </p:sp>
      <p:sp>
        <p:nvSpPr>
          <p:cNvPr id="5" name="Text 3"/>
          <p:cNvSpPr/>
          <p:nvPr/>
        </p:nvSpPr>
        <p:spPr>
          <a:xfrm>
            <a:off x="548640" y="1024128"/>
            <a:ext cx="8229600" cy="36576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Lean, standard pieces — wired together over HTTP.</a:t>
            </a:r>
            <a:endParaRPr lang="en-US" sz="1600" dirty="0"/>
          </a:p>
        </p:txBody>
      </p:sp>
      <p:sp>
        <p:nvSpPr>
          <p:cNvPr id="6" name="Shape 4"/>
          <p:cNvSpPr/>
          <p:nvPr/>
        </p:nvSpPr>
        <p:spPr>
          <a:xfrm>
            <a:off x="548640" y="1874520"/>
            <a:ext cx="1947672" cy="2514600"/>
          </a:xfrm>
          <a:prstGeom prst="roundRect">
            <a:avLst>
              <a:gd name="adj" fmla="val 4225"/>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7" name="Shape 5"/>
          <p:cNvSpPr/>
          <p:nvPr/>
        </p:nvSpPr>
        <p:spPr>
          <a:xfrm>
            <a:off x="1197864" y="2148840"/>
            <a:ext cx="640080" cy="640080"/>
          </a:xfrm>
          <a:prstGeom prst="ellipse">
            <a:avLst/>
          </a:prstGeom>
          <a:solidFill>
            <a:srgbClr val="0E1730"/>
          </a:solidFill>
          <a:ln w="12700">
            <a:solidFill>
              <a:srgbClr val="2DD4BF">
                <a:alpha val="60000"/>
              </a:srgbClr>
            </a:solidFill>
            <a:prstDash val="solid"/>
          </a:ln>
        </p:spPr>
      </p:sp>
      <p:pic>
        <p:nvPicPr>
          <p:cNvPr id="8" name="Image 0" descr="preencoded.png">    </p:cNvPr>
          <p:cNvPicPr>
            <a:picLocks noChangeAspect="1"/>
          </p:cNvPicPr>
          <p:nvPr/>
        </p:nvPicPr>
        <p:blipFill>
          <a:blip r:embed="rId1"/>
          <a:stretch>
            <a:fillRect/>
          </a:stretch>
        </p:blipFill>
        <p:spPr>
          <a:xfrm>
            <a:off x="1348740" y="2299716"/>
            <a:ext cx="338328" cy="338328"/>
          </a:xfrm>
          <a:prstGeom prst="rect">
            <a:avLst/>
          </a:prstGeom>
        </p:spPr>
      </p:pic>
      <p:sp>
        <p:nvSpPr>
          <p:cNvPr id="9" name="Text 6"/>
          <p:cNvSpPr/>
          <p:nvPr/>
        </p:nvSpPr>
        <p:spPr>
          <a:xfrm>
            <a:off x="640080" y="2907792"/>
            <a:ext cx="1764792" cy="365760"/>
          </a:xfrm>
          <a:prstGeom prst="rect">
            <a:avLst/>
          </a:prstGeom>
          <a:noFill/>
          <a:ln/>
        </p:spPr>
        <p:txBody>
          <a:bodyPr wrap="square" rtlCol="0" anchor="ctr"/>
          <a:lstStyle/>
          <a:p>
            <a:pPr algn="ctr" indent="0" marL="0">
              <a:buNone/>
            </a:pPr>
            <a:r>
              <a:rPr lang="en-US" sz="1500" b="1" dirty="0">
                <a:solidFill>
                  <a:srgbClr val="F8FAFC"/>
                </a:solidFill>
                <a:latin typeface="Arial" pitchFamily="34" charset="0"/>
                <a:ea typeface="Arial" pitchFamily="34" charset="-122"/>
                <a:cs typeface="Arial" pitchFamily="34" charset="-120"/>
              </a:rPr>
              <a:t>Neo4j</a:t>
            </a:r>
            <a:endParaRPr lang="en-US" sz="1500" dirty="0"/>
          </a:p>
        </p:txBody>
      </p:sp>
      <p:sp>
        <p:nvSpPr>
          <p:cNvPr id="10" name="Text 7"/>
          <p:cNvSpPr/>
          <p:nvPr/>
        </p:nvSpPr>
        <p:spPr>
          <a:xfrm>
            <a:off x="713232" y="3310128"/>
            <a:ext cx="1618488" cy="1005840"/>
          </a:xfrm>
          <a:prstGeom prst="rect">
            <a:avLst/>
          </a:prstGeom>
          <a:noFill/>
          <a:ln/>
        </p:spPr>
        <p:txBody>
          <a:bodyPr wrap="square" rtlCol="0" anchor="ctr"/>
          <a:lstStyle/>
          <a:p>
            <a:pPr algn="ctr" indent="0" marL="0">
              <a:lnSpc>
                <a:spcPct val="105000"/>
              </a:lnSpc>
              <a:buNone/>
            </a:pPr>
            <a:r>
              <a:rPr lang="en-US" sz="1100" dirty="0">
                <a:solidFill>
                  <a:srgbClr val="94A3B8"/>
                </a:solidFill>
                <a:latin typeface="Calibri" pitchFamily="34" charset="0"/>
                <a:ea typeface="Calibri" pitchFamily="34" charset="-122"/>
                <a:cs typeface="Calibri" pitchFamily="34" charset="-120"/>
              </a:rPr>
              <a:t>Graph database storing connected data and running Cypher.</a:t>
            </a:r>
            <a:endParaRPr lang="en-US" sz="1100" dirty="0"/>
          </a:p>
        </p:txBody>
      </p:sp>
      <p:sp>
        <p:nvSpPr>
          <p:cNvPr id="11" name="Shape 8"/>
          <p:cNvSpPr/>
          <p:nvPr/>
        </p:nvSpPr>
        <p:spPr>
          <a:xfrm>
            <a:off x="2624328" y="1874520"/>
            <a:ext cx="1947672" cy="2514600"/>
          </a:xfrm>
          <a:prstGeom prst="roundRect">
            <a:avLst>
              <a:gd name="adj" fmla="val 4225"/>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2" name="Shape 9"/>
          <p:cNvSpPr/>
          <p:nvPr/>
        </p:nvSpPr>
        <p:spPr>
          <a:xfrm>
            <a:off x="3273552" y="2148840"/>
            <a:ext cx="640080" cy="640080"/>
          </a:xfrm>
          <a:prstGeom prst="ellipse">
            <a:avLst/>
          </a:prstGeom>
          <a:solidFill>
            <a:srgbClr val="0E1730"/>
          </a:solidFill>
          <a:ln w="12700">
            <a:solidFill>
              <a:srgbClr val="2DD4BF">
                <a:alpha val="60000"/>
              </a:srgbClr>
            </a:solidFill>
            <a:prstDash val="solid"/>
          </a:ln>
        </p:spPr>
      </p:sp>
      <p:pic>
        <p:nvPicPr>
          <p:cNvPr id="13" name="Image 1" descr="preencoded.png">    </p:cNvPr>
          <p:cNvPicPr>
            <a:picLocks noChangeAspect="1"/>
          </p:cNvPicPr>
          <p:nvPr/>
        </p:nvPicPr>
        <p:blipFill>
          <a:blip r:embed="rId2"/>
          <a:stretch>
            <a:fillRect/>
          </a:stretch>
        </p:blipFill>
        <p:spPr>
          <a:xfrm>
            <a:off x="3424428" y="2299716"/>
            <a:ext cx="338328" cy="338328"/>
          </a:xfrm>
          <a:prstGeom prst="rect">
            <a:avLst/>
          </a:prstGeom>
        </p:spPr>
      </p:pic>
      <p:sp>
        <p:nvSpPr>
          <p:cNvPr id="14" name="Text 10"/>
          <p:cNvSpPr/>
          <p:nvPr/>
        </p:nvSpPr>
        <p:spPr>
          <a:xfrm>
            <a:off x="2715768" y="2907792"/>
            <a:ext cx="1764792" cy="365760"/>
          </a:xfrm>
          <a:prstGeom prst="rect">
            <a:avLst/>
          </a:prstGeom>
          <a:noFill/>
          <a:ln/>
        </p:spPr>
        <p:txBody>
          <a:bodyPr wrap="square" rtlCol="0" anchor="ctr"/>
          <a:lstStyle/>
          <a:p>
            <a:pPr algn="ctr" indent="0" marL="0">
              <a:buNone/>
            </a:pPr>
            <a:r>
              <a:rPr lang="en-US" sz="1500" b="1" dirty="0">
                <a:solidFill>
                  <a:srgbClr val="F8FAFC"/>
                </a:solidFill>
                <a:latin typeface="Arial" pitchFamily="34" charset="0"/>
                <a:ea typeface="Arial" pitchFamily="34" charset="-122"/>
                <a:cs typeface="Arial" pitchFamily="34" charset="-120"/>
              </a:rPr>
              <a:t>FastPath</a:t>
            </a:r>
            <a:endParaRPr lang="en-US" sz="1500" dirty="0"/>
          </a:p>
        </p:txBody>
      </p:sp>
      <p:sp>
        <p:nvSpPr>
          <p:cNvPr id="15" name="Text 11"/>
          <p:cNvSpPr/>
          <p:nvPr/>
        </p:nvSpPr>
        <p:spPr>
          <a:xfrm>
            <a:off x="2788920" y="3310128"/>
            <a:ext cx="1618488" cy="1005840"/>
          </a:xfrm>
          <a:prstGeom prst="rect">
            <a:avLst/>
          </a:prstGeom>
          <a:noFill/>
          <a:ln/>
        </p:spPr>
        <p:txBody>
          <a:bodyPr wrap="square" rtlCol="0" anchor="ctr"/>
          <a:lstStyle/>
          <a:p>
            <a:pPr algn="ctr" indent="0" marL="0">
              <a:lnSpc>
                <a:spcPct val="105000"/>
              </a:lnSpc>
              <a:buNone/>
            </a:pPr>
            <a:r>
              <a:rPr lang="en-US" sz="1100" dirty="0">
                <a:solidFill>
                  <a:srgbClr val="94A3B8"/>
                </a:solidFill>
                <a:latin typeface="Calibri" pitchFamily="34" charset="0"/>
                <a:ea typeface="Calibri" pitchFamily="34" charset="-122"/>
                <a:cs typeface="Calibri" pitchFamily="34" charset="-120"/>
              </a:rPr>
              <a:t>Regex engine: NL → Cypher with no LLM call. LLM as fallback.</a:t>
            </a:r>
            <a:endParaRPr lang="en-US" sz="1100" dirty="0"/>
          </a:p>
        </p:txBody>
      </p:sp>
      <p:sp>
        <p:nvSpPr>
          <p:cNvPr id="16" name="Shape 12"/>
          <p:cNvSpPr/>
          <p:nvPr/>
        </p:nvSpPr>
        <p:spPr>
          <a:xfrm>
            <a:off x="4700016" y="1874520"/>
            <a:ext cx="1947672" cy="2514600"/>
          </a:xfrm>
          <a:prstGeom prst="roundRect">
            <a:avLst>
              <a:gd name="adj" fmla="val 4225"/>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17" name="Shape 13"/>
          <p:cNvSpPr/>
          <p:nvPr/>
        </p:nvSpPr>
        <p:spPr>
          <a:xfrm>
            <a:off x="5349240" y="2148840"/>
            <a:ext cx="640080" cy="640080"/>
          </a:xfrm>
          <a:prstGeom prst="ellipse">
            <a:avLst/>
          </a:prstGeom>
          <a:solidFill>
            <a:srgbClr val="0E1730"/>
          </a:solidFill>
          <a:ln w="12700">
            <a:solidFill>
              <a:srgbClr val="2DD4BF">
                <a:alpha val="60000"/>
              </a:srgbClr>
            </a:solidFill>
            <a:prstDash val="solid"/>
          </a:ln>
        </p:spPr>
      </p:sp>
      <p:pic>
        <p:nvPicPr>
          <p:cNvPr id="18" name="Image 2" descr="preencoded.png">    </p:cNvPr>
          <p:cNvPicPr>
            <a:picLocks noChangeAspect="1"/>
          </p:cNvPicPr>
          <p:nvPr/>
        </p:nvPicPr>
        <p:blipFill>
          <a:blip r:embed="rId3"/>
          <a:stretch>
            <a:fillRect/>
          </a:stretch>
        </p:blipFill>
        <p:spPr>
          <a:xfrm>
            <a:off x="5500116" y="2299716"/>
            <a:ext cx="338328" cy="338328"/>
          </a:xfrm>
          <a:prstGeom prst="rect">
            <a:avLst/>
          </a:prstGeom>
        </p:spPr>
      </p:pic>
      <p:sp>
        <p:nvSpPr>
          <p:cNvPr id="19" name="Text 14"/>
          <p:cNvSpPr/>
          <p:nvPr/>
        </p:nvSpPr>
        <p:spPr>
          <a:xfrm>
            <a:off x="4791456" y="2907792"/>
            <a:ext cx="1764792" cy="365760"/>
          </a:xfrm>
          <a:prstGeom prst="rect">
            <a:avLst/>
          </a:prstGeom>
          <a:noFill/>
          <a:ln/>
        </p:spPr>
        <p:txBody>
          <a:bodyPr wrap="square" rtlCol="0" anchor="ctr"/>
          <a:lstStyle/>
          <a:p>
            <a:pPr algn="ctr" indent="0" marL="0">
              <a:buNone/>
            </a:pPr>
            <a:r>
              <a:rPr lang="en-US" sz="1500" b="1" dirty="0">
                <a:solidFill>
                  <a:srgbClr val="F8FAFC"/>
                </a:solidFill>
                <a:latin typeface="Arial" pitchFamily="34" charset="0"/>
                <a:ea typeface="Arial" pitchFamily="34" charset="-122"/>
                <a:cs typeface="Arial" pitchFamily="34" charset="-120"/>
              </a:rPr>
              <a:t>MCP Server</a:t>
            </a:r>
            <a:endParaRPr lang="en-US" sz="1500" dirty="0"/>
          </a:p>
        </p:txBody>
      </p:sp>
      <p:sp>
        <p:nvSpPr>
          <p:cNvPr id="20" name="Text 15"/>
          <p:cNvSpPr/>
          <p:nvPr/>
        </p:nvSpPr>
        <p:spPr>
          <a:xfrm>
            <a:off x="4864608" y="3310128"/>
            <a:ext cx="1618488" cy="1005840"/>
          </a:xfrm>
          <a:prstGeom prst="rect">
            <a:avLst/>
          </a:prstGeom>
          <a:noFill/>
          <a:ln/>
        </p:spPr>
        <p:txBody>
          <a:bodyPr wrap="square" rtlCol="0" anchor="ctr"/>
          <a:lstStyle/>
          <a:p>
            <a:pPr algn="ctr" indent="0" marL="0">
              <a:lnSpc>
                <a:spcPct val="105000"/>
              </a:lnSpc>
              <a:buNone/>
            </a:pPr>
            <a:r>
              <a:rPr lang="en-US" sz="1100" dirty="0">
                <a:solidFill>
                  <a:srgbClr val="94A3B8"/>
                </a:solidFill>
                <a:latin typeface="Calibri" pitchFamily="34" charset="0"/>
                <a:ea typeface="Calibri" pitchFamily="34" charset="-122"/>
                <a:cs typeface="Calibri" pitchFamily="34" charset="-120"/>
              </a:rPr>
              <a:t>Multi-layer guard, over HTTP. Works in VS Code &amp; any AI tool.</a:t>
            </a:r>
            <a:endParaRPr lang="en-US" sz="1100" dirty="0"/>
          </a:p>
        </p:txBody>
      </p:sp>
      <p:sp>
        <p:nvSpPr>
          <p:cNvPr id="21" name="Shape 16"/>
          <p:cNvSpPr/>
          <p:nvPr/>
        </p:nvSpPr>
        <p:spPr>
          <a:xfrm>
            <a:off x="6775704" y="1874520"/>
            <a:ext cx="1947672" cy="2514600"/>
          </a:xfrm>
          <a:prstGeom prst="roundRect">
            <a:avLst>
              <a:gd name="adj" fmla="val 4225"/>
            </a:avLst>
          </a:prstGeom>
          <a:solidFill>
            <a:srgbClr val="162133"/>
          </a:solidFill>
          <a:ln w="12700">
            <a:solidFill>
              <a:srgbClr val="1C2A45"/>
            </a:solidFill>
            <a:prstDash val="solid"/>
          </a:ln>
          <a:effectLst>
            <a:outerShdw sx="100000" sy="100000" kx="0" ky="0" algn="bl" rotWithShape="0" blurRad="114300" dist="38100" dir="5400000">
              <a:srgbClr val="000000">
                <a:alpha val="35000"/>
              </a:srgbClr>
            </a:outerShdw>
          </a:effectLst>
        </p:spPr>
      </p:sp>
      <p:sp>
        <p:nvSpPr>
          <p:cNvPr id="22" name="Shape 17"/>
          <p:cNvSpPr/>
          <p:nvPr/>
        </p:nvSpPr>
        <p:spPr>
          <a:xfrm>
            <a:off x="7424928" y="2148840"/>
            <a:ext cx="640080" cy="640080"/>
          </a:xfrm>
          <a:prstGeom prst="ellipse">
            <a:avLst/>
          </a:prstGeom>
          <a:solidFill>
            <a:srgbClr val="0E1730"/>
          </a:solidFill>
          <a:ln w="12700">
            <a:solidFill>
              <a:srgbClr val="2DD4BF">
                <a:alpha val="60000"/>
              </a:srgbClr>
            </a:solidFill>
            <a:prstDash val="solid"/>
          </a:ln>
        </p:spPr>
      </p:sp>
      <p:pic>
        <p:nvPicPr>
          <p:cNvPr id="23" name="Image 3" descr="preencoded.png">    </p:cNvPr>
          <p:cNvPicPr>
            <a:picLocks noChangeAspect="1"/>
          </p:cNvPicPr>
          <p:nvPr/>
        </p:nvPicPr>
        <p:blipFill>
          <a:blip r:embed="rId4"/>
          <a:stretch>
            <a:fillRect/>
          </a:stretch>
        </p:blipFill>
        <p:spPr>
          <a:xfrm>
            <a:off x="7575804" y="2299716"/>
            <a:ext cx="338328" cy="338328"/>
          </a:xfrm>
          <a:prstGeom prst="rect">
            <a:avLst/>
          </a:prstGeom>
        </p:spPr>
      </p:pic>
      <p:sp>
        <p:nvSpPr>
          <p:cNvPr id="24" name="Text 18"/>
          <p:cNvSpPr/>
          <p:nvPr/>
        </p:nvSpPr>
        <p:spPr>
          <a:xfrm>
            <a:off x="6867144" y="2907792"/>
            <a:ext cx="1764792" cy="365760"/>
          </a:xfrm>
          <a:prstGeom prst="rect">
            <a:avLst/>
          </a:prstGeom>
          <a:noFill/>
          <a:ln/>
        </p:spPr>
        <p:txBody>
          <a:bodyPr wrap="square" rtlCol="0" anchor="ctr"/>
          <a:lstStyle/>
          <a:p>
            <a:pPr algn="ctr" indent="0" marL="0">
              <a:buNone/>
            </a:pPr>
            <a:r>
              <a:rPr lang="en-US" sz="1500" b="1" dirty="0">
                <a:solidFill>
                  <a:srgbClr val="F8FAFC"/>
                </a:solidFill>
                <a:latin typeface="Arial" pitchFamily="34" charset="0"/>
                <a:ea typeface="Arial" pitchFamily="34" charset="-122"/>
                <a:cs typeface="Arial" pitchFamily="34" charset="-120"/>
              </a:rPr>
              <a:t>Web UI</a:t>
            </a:r>
            <a:endParaRPr lang="en-US" sz="1500" dirty="0"/>
          </a:p>
        </p:txBody>
      </p:sp>
      <p:sp>
        <p:nvSpPr>
          <p:cNvPr id="25" name="Text 19"/>
          <p:cNvSpPr/>
          <p:nvPr/>
        </p:nvSpPr>
        <p:spPr>
          <a:xfrm>
            <a:off x="6940296" y="3310128"/>
            <a:ext cx="1618488" cy="1005840"/>
          </a:xfrm>
          <a:prstGeom prst="rect">
            <a:avLst/>
          </a:prstGeom>
          <a:noFill/>
          <a:ln/>
        </p:spPr>
        <p:txBody>
          <a:bodyPr wrap="square" rtlCol="0" anchor="ctr"/>
          <a:lstStyle/>
          <a:p>
            <a:pPr algn="ctr" indent="0" marL="0">
              <a:lnSpc>
                <a:spcPct val="105000"/>
              </a:lnSpc>
              <a:buNone/>
            </a:pPr>
            <a:r>
              <a:rPr lang="en-US" sz="1100" dirty="0">
                <a:solidFill>
                  <a:srgbClr val="94A3B8"/>
                </a:solidFill>
                <a:latin typeface="Calibri" pitchFamily="34" charset="0"/>
                <a:ea typeface="Calibri" pitchFamily="34" charset="-122"/>
                <a:cs typeface="Calibri" pitchFamily="34" charset="-120"/>
              </a:rPr>
              <a:t>Runs queries; renders results as a graph beside the Cypher.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1"/>
        </a:solidFill>
      </p:bgPr>
    </p:bg>
    <p:spTree>
      <p:nvGrpSpPr>
        <p:cNvPr id="1" name=""/>
        <p:cNvGrpSpPr/>
        <p:nvPr/>
      </p:nvGrpSpPr>
      <p:grpSpPr>
        <a:xfrm>
          <a:off x="0" y="0"/>
          <a:ext cx="0" cy="0"/>
          <a:chOff x="0" y="0"/>
          <a:chExt cx="0" cy="0"/>
        </a:xfrm>
      </p:grpSpPr>
      <p:sp>
        <p:nvSpPr>
          <p:cNvPr id="2" name="Shape 0"/>
          <p:cNvSpPr/>
          <p:nvPr/>
        </p:nvSpPr>
        <p:spPr>
          <a:xfrm>
            <a:off x="6364224" y="557784"/>
            <a:ext cx="1207008" cy="438912"/>
          </a:xfrm>
          <a:prstGeom prst="line">
            <a:avLst/>
          </a:prstGeom>
          <a:noFill/>
          <a:ln w="15875">
            <a:solidFill>
              <a:srgbClr val="2DD4BF">
                <a:alpha val="45000"/>
              </a:srgbClr>
            </a:solidFill>
            <a:prstDash val="solid"/>
          </a:ln>
        </p:spPr>
      </p:sp>
      <p:sp>
        <p:nvSpPr>
          <p:cNvPr id="3" name="Shape 1"/>
          <p:cNvSpPr/>
          <p:nvPr/>
        </p:nvSpPr>
        <p:spPr>
          <a:xfrm>
            <a:off x="6364224" y="557784"/>
            <a:ext cx="658368" cy="1316736"/>
          </a:xfrm>
          <a:prstGeom prst="line">
            <a:avLst/>
          </a:prstGeom>
          <a:noFill/>
          <a:ln w="15875">
            <a:solidFill>
              <a:srgbClr val="2DD4BF">
                <a:alpha val="45000"/>
              </a:srgbClr>
            </a:solidFill>
            <a:prstDash val="solid"/>
          </a:ln>
        </p:spPr>
      </p:sp>
      <p:sp>
        <p:nvSpPr>
          <p:cNvPr id="4" name="Shape 2"/>
          <p:cNvSpPr/>
          <p:nvPr/>
        </p:nvSpPr>
        <p:spPr>
          <a:xfrm>
            <a:off x="7571232" y="996696"/>
            <a:ext cx="768096" cy="987552"/>
          </a:xfrm>
          <a:prstGeom prst="line">
            <a:avLst/>
          </a:prstGeom>
          <a:noFill/>
          <a:ln w="15875">
            <a:solidFill>
              <a:srgbClr val="2DD4BF">
                <a:alpha val="45000"/>
              </a:srgbClr>
            </a:solidFill>
            <a:prstDash val="solid"/>
          </a:ln>
        </p:spPr>
      </p:sp>
      <p:sp>
        <p:nvSpPr>
          <p:cNvPr id="5" name="Shape 3"/>
          <p:cNvSpPr/>
          <p:nvPr/>
        </p:nvSpPr>
        <p:spPr>
          <a:xfrm>
            <a:off x="7571232" y="996696"/>
            <a:ext cx="1207008" cy="-219456"/>
          </a:xfrm>
          <a:prstGeom prst="line">
            <a:avLst/>
          </a:prstGeom>
          <a:noFill/>
          <a:ln w="15875">
            <a:solidFill>
              <a:srgbClr val="2DD4BF">
                <a:alpha val="45000"/>
              </a:srgbClr>
            </a:solidFill>
            <a:prstDash val="solid"/>
          </a:ln>
        </p:spPr>
      </p:sp>
      <p:sp>
        <p:nvSpPr>
          <p:cNvPr id="6" name="Shape 4"/>
          <p:cNvSpPr/>
          <p:nvPr/>
        </p:nvSpPr>
        <p:spPr>
          <a:xfrm>
            <a:off x="7022592" y="1874520"/>
            <a:ext cx="1316736" cy="109728"/>
          </a:xfrm>
          <a:prstGeom prst="line">
            <a:avLst/>
          </a:prstGeom>
          <a:noFill/>
          <a:ln w="15875">
            <a:solidFill>
              <a:srgbClr val="2DD4BF">
                <a:alpha val="45000"/>
              </a:srgbClr>
            </a:solidFill>
            <a:prstDash val="solid"/>
          </a:ln>
        </p:spPr>
      </p:sp>
      <p:sp>
        <p:nvSpPr>
          <p:cNvPr id="7" name="Shape 5"/>
          <p:cNvSpPr/>
          <p:nvPr/>
        </p:nvSpPr>
        <p:spPr>
          <a:xfrm>
            <a:off x="7022592" y="1874520"/>
            <a:ext cx="877824" cy="987552"/>
          </a:xfrm>
          <a:prstGeom prst="line">
            <a:avLst/>
          </a:prstGeom>
          <a:noFill/>
          <a:ln w="15875">
            <a:solidFill>
              <a:srgbClr val="2DD4BF">
                <a:alpha val="45000"/>
              </a:srgbClr>
            </a:solidFill>
            <a:prstDash val="solid"/>
          </a:ln>
        </p:spPr>
      </p:sp>
      <p:sp>
        <p:nvSpPr>
          <p:cNvPr id="8" name="Shape 6"/>
          <p:cNvSpPr/>
          <p:nvPr/>
        </p:nvSpPr>
        <p:spPr>
          <a:xfrm>
            <a:off x="8339328" y="1984248"/>
            <a:ext cx="-438912" cy="877824"/>
          </a:xfrm>
          <a:prstGeom prst="line">
            <a:avLst/>
          </a:prstGeom>
          <a:noFill/>
          <a:ln w="15875">
            <a:solidFill>
              <a:srgbClr val="2DD4BF">
                <a:alpha val="45000"/>
              </a:srgbClr>
            </a:solidFill>
            <a:prstDash val="solid"/>
          </a:ln>
        </p:spPr>
      </p:sp>
      <p:sp>
        <p:nvSpPr>
          <p:cNvPr id="9" name="Shape 7"/>
          <p:cNvSpPr/>
          <p:nvPr/>
        </p:nvSpPr>
        <p:spPr>
          <a:xfrm>
            <a:off x="6309360" y="502920"/>
            <a:ext cx="219456" cy="219456"/>
          </a:xfrm>
          <a:prstGeom prst="ellipse">
            <a:avLst/>
          </a:prstGeom>
          <a:solidFill>
            <a:srgbClr val="2DD4BF">
              <a:alpha val="85000"/>
            </a:srgbClr>
          </a:solidFill>
          <a:ln w="6350">
            <a:solidFill>
              <a:srgbClr val="F8FAFC">
                <a:alpha val="40000"/>
              </a:srgbClr>
            </a:solidFill>
            <a:prstDash val="solid"/>
          </a:ln>
        </p:spPr>
      </p:sp>
      <p:sp>
        <p:nvSpPr>
          <p:cNvPr id="10" name="Shape 8"/>
          <p:cNvSpPr/>
          <p:nvPr/>
        </p:nvSpPr>
        <p:spPr>
          <a:xfrm>
            <a:off x="7516368" y="941832"/>
            <a:ext cx="142646" cy="142646"/>
          </a:xfrm>
          <a:prstGeom prst="ellipse">
            <a:avLst/>
          </a:prstGeom>
          <a:solidFill>
            <a:srgbClr val="38BDF8">
              <a:alpha val="85000"/>
            </a:srgbClr>
          </a:solidFill>
          <a:ln w="6350">
            <a:solidFill>
              <a:srgbClr val="F8FAFC">
                <a:alpha val="40000"/>
              </a:srgbClr>
            </a:solidFill>
            <a:prstDash val="solid"/>
          </a:ln>
        </p:spPr>
      </p:sp>
      <p:sp>
        <p:nvSpPr>
          <p:cNvPr id="11" name="Shape 9"/>
          <p:cNvSpPr/>
          <p:nvPr/>
        </p:nvSpPr>
        <p:spPr>
          <a:xfrm>
            <a:off x="6967728" y="1819656"/>
            <a:ext cx="142646" cy="142646"/>
          </a:xfrm>
          <a:prstGeom prst="ellipse">
            <a:avLst/>
          </a:prstGeom>
          <a:solidFill>
            <a:srgbClr val="4ADE80">
              <a:alpha val="85000"/>
            </a:srgbClr>
          </a:solidFill>
          <a:ln w="6350">
            <a:solidFill>
              <a:srgbClr val="F8FAFC">
                <a:alpha val="40000"/>
              </a:srgbClr>
            </a:solidFill>
            <a:prstDash val="solid"/>
          </a:ln>
        </p:spPr>
      </p:sp>
      <p:sp>
        <p:nvSpPr>
          <p:cNvPr id="12" name="Shape 10"/>
          <p:cNvSpPr/>
          <p:nvPr/>
        </p:nvSpPr>
        <p:spPr>
          <a:xfrm>
            <a:off x="8284464" y="1929384"/>
            <a:ext cx="219456" cy="219456"/>
          </a:xfrm>
          <a:prstGeom prst="ellipse">
            <a:avLst/>
          </a:prstGeom>
          <a:solidFill>
            <a:srgbClr val="2DD4BF">
              <a:alpha val="85000"/>
            </a:srgbClr>
          </a:solidFill>
          <a:ln w="6350">
            <a:solidFill>
              <a:srgbClr val="F8FAFC">
                <a:alpha val="40000"/>
              </a:srgbClr>
            </a:solidFill>
            <a:prstDash val="solid"/>
          </a:ln>
        </p:spPr>
      </p:sp>
      <p:sp>
        <p:nvSpPr>
          <p:cNvPr id="13" name="Shape 11"/>
          <p:cNvSpPr/>
          <p:nvPr/>
        </p:nvSpPr>
        <p:spPr>
          <a:xfrm>
            <a:off x="8723376" y="722376"/>
            <a:ext cx="142646" cy="142646"/>
          </a:xfrm>
          <a:prstGeom prst="ellipse">
            <a:avLst/>
          </a:prstGeom>
          <a:solidFill>
            <a:srgbClr val="38BDF8">
              <a:alpha val="85000"/>
            </a:srgbClr>
          </a:solidFill>
          <a:ln w="6350">
            <a:solidFill>
              <a:srgbClr val="F8FAFC">
                <a:alpha val="40000"/>
              </a:srgbClr>
            </a:solidFill>
            <a:prstDash val="solid"/>
          </a:ln>
        </p:spPr>
      </p:sp>
      <p:sp>
        <p:nvSpPr>
          <p:cNvPr id="14" name="Shape 12"/>
          <p:cNvSpPr/>
          <p:nvPr/>
        </p:nvSpPr>
        <p:spPr>
          <a:xfrm>
            <a:off x="7845552" y="2807208"/>
            <a:ext cx="142646" cy="142646"/>
          </a:xfrm>
          <a:prstGeom prst="ellipse">
            <a:avLst/>
          </a:prstGeom>
          <a:solidFill>
            <a:srgbClr val="4ADE80">
              <a:alpha val="85000"/>
            </a:srgbClr>
          </a:solidFill>
          <a:ln w="6350">
            <a:solidFill>
              <a:srgbClr val="F8FAFC">
                <a:alpha val="40000"/>
              </a:srgbClr>
            </a:solidFill>
            <a:prstDash val="solid"/>
          </a:ln>
        </p:spPr>
      </p:sp>
      <p:sp>
        <p:nvSpPr>
          <p:cNvPr id="15" name="Shape 13"/>
          <p:cNvSpPr/>
          <p:nvPr/>
        </p:nvSpPr>
        <p:spPr>
          <a:xfrm>
            <a:off x="7888986" y="3957066"/>
            <a:ext cx="553212" cy="201168"/>
          </a:xfrm>
          <a:prstGeom prst="line">
            <a:avLst/>
          </a:prstGeom>
          <a:noFill/>
          <a:ln w="15875">
            <a:solidFill>
              <a:srgbClr val="2DD4BF">
                <a:alpha val="45000"/>
              </a:srgbClr>
            </a:solidFill>
            <a:prstDash val="solid"/>
          </a:ln>
        </p:spPr>
      </p:sp>
      <p:sp>
        <p:nvSpPr>
          <p:cNvPr id="16" name="Shape 14"/>
          <p:cNvSpPr/>
          <p:nvPr/>
        </p:nvSpPr>
        <p:spPr>
          <a:xfrm>
            <a:off x="7888986" y="3957066"/>
            <a:ext cx="301752" cy="603504"/>
          </a:xfrm>
          <a:prstGeom prst="line">
            <a:avLst/>
          </a:prstGeom>
          <a:noFill/>
          <a:ln w="15875">
            <a:solidFill>
              <a:srgbClr val="2DD4BF">
                <a:alpha val="45000"/>
              </a:srgbClr>
            </a:solidFill>
            <a:prstDash val="solid"/>
          </a:ln>
        </p:spPr>
      </p:sp>
      <p:sp>
        <p:nvSpPr>
          <p:cNvPr id="17" name="Shape 15"/>
          <p:cNvSpPr/>
          <p:nvPr/>
        </p:nvSpPr>
        <p:spPr>
          <a:xfrm>
            <a:off x="8442198" y="4158234"/>
            <a:ext cx="352044" cy="452628"/>
          </a:xfrm>
          <a:prstGeom prst="line">
            <a:avLst/>
          </a:prstGeom>
          <a:noFill/>
          <a:ln w="15875">
            <a:solidFill>
              <a:srgbClr val="2DD4BF">
                <a:alpha val="45000"/>
              </a:srgbClr>
            </a:solidFill>
            <a:prstDash val="solid"/>
          </a:ln>
        </p:spPr>
      </p:sp>
      <p:sp>
        <p:nvSpPr>
          <p:cNvPr id="18" name="Shape 16"/>
          <p:cNvSpPr/>
          <p:nvPr/>
        </p:nvSpPr>
        <p:spPr>
          <a:xfrm>
            <a:off x="8442198" y="4158234"/>
            <a:ext cx="553212" cy="-100584"/>
          </a:xfrm>
          <a:prstGeom prst="line">
            <a:avLst/>
          </a:prstGeom>
          <a:noFill/>
          <a:ln w="15875">
            <a:solidFill>
              <a:srgbClr val="2DD4BF">
                <a:alpha val="45000"/>
              </a:srgbClr>
            </a:solidFill>
            <a:prstDash val="solid"/>
          </a:ln>
        </p:spPr>
      </p:sp>
      <p:sp>
        <p:nvSpPr>
          <p:cNvPr id="19" name="Shape 17"/>
          <p:cNvSpPr/>
          <p:nvPr/>
        </p:nvSpPr>
        <p:spPr>
          <a:xfrm>
            <a:off x="8190738" y="4560570"/>
            <a:ext cx="603504" cy="50292"/>
          </a:xfrm>
          <a:prstGeom prst="line">
            <a:avLst/>
          </a:prstGeom>
          <a:noFill/>
          <a:ln w="15875">
            <a:solidFill>
              <a:srgbClr val="2DD4BF">
                <a:alpha val="45000"/>
              </a:srgbClr>
            </a:solidFill>
            <a:prstDash val="solid"/>
          </a:ln>
        </p:spPr>
      </p:sp>
      <p:sp>
        <p:nvSpPr>
          <p:cNvPr id="20" name="Shape 18"/>
          <p:cNvSpPr/>
          <p:nvPr/>
        </p:nvSpPr>
        <p:spPr>
          <a:xfrm>
            <a:off x="8190738" y="4560570"/>
            <a:ext cx="402336" cy="452628"/>
          </a:xfrm>
          <a:prstGeom prst="line">
            <a:avLst/>
          </a:prstGeom>
          <a:noFill/>
          <a:ln w="15875">
            <a:solidFill>
              <a:srgbClr val="2DD4BF">
                <a:alpha val="45000"/>
              </a:srgbClr>
            </a:solidFill>
            <a:prstDash val="solid"/>
          </a:ln>
        </p:spPr>
      </p:sp>
      <p:sp>
        <p:nvSpPr>
          <p:cNvPr id="21" name="Shape 19"/>
          <p:cNvSpPr/>
          <p:nvPr/>
        </p:nvSpPr>
        <p:spPr>
          <a:xfrm>
            <a:off x="8794242" y="4610862"/>
            <a:ext cx="-201168" cy="402336"/>
          </a:xfrm>
          <a:prstGeom prst="line">
            <a:avLst/>
          </a:prstGeom>
          <a:noFill/>
          <a:ln w="15875">
            <a:solidFill>
              <a:srgbClr val="2DD4BF">
                <a:alpha val="45000"/>
              </a:srgbClr>
            </a:solidFill>
            <a:prstDash val="solid"/>
          </a:ln>
        </p:spPr>
      </p:sp>
      <p:sp>
        <p:nvSpPr>
          <p:cNvPr id="22" name="Shape 20"/>
          <p:cNvSpPr/>
          <p:nvPr/>
        </p:nvSpPr>
        <p:spPr>
          <a:xfrm>
            <a:off x="7863840" y="3931920"/>
            <a:ext cx="100584" cy="100584"/>
          </a:xfrm>
          <a:prstGeom prst="ellipse">
            <a:avLst/>
          </a:prstGeom>
          <a:solidFill>
            <a:srgbClr val="2DD4BF">
              <a:alpha val="85000"/>
            </a:srgbClr>
          </a:solidFill>
          <a:ln w="6350">
            <a:solidFill>
              <a:srgbClr val="F8FAFC">
                <a:alpha val="40000"/>
              </a:srgbClr>
            </a:solidFill>
            <a:prstDash val="solid"/>
          </a:ln>
        </p:spPr>
      </p:sp>
      <p:sp>
        <p:nvSpPr>
          <p:cNvPr id="23" name="Shape 21"/>
          <p:cNvSpPr/>
          <p:nvPr/>
        </p:nvSpPr>
        <p:spPr>
          <a:xfrm>
            <a:off x="8417052" y="4133088"/>
            <a:ext cx="65380" cy="65380"/>
          </a:xfrm>
          <a:prstGeom prst="ellipse">
            <a:avLst/>
          </a:prstGeom>
          <a:solidFill>
            <a:srgbClr val="38BDF8">
              <a:alpha val="85000"/>
            </a:srgbClr>
          </a:solidFill>
          <a:ln w="6350">
            <a:solidFill>
              <a:srgbClr val="F8FAFC">
                <a:alpha val="40000"/>
              </a:srgbClr>
            </a:solidFill>
            <a:prstDash val="solid"/>
          </a:ln>
        </p:spPr>
      </p:sp>
      <p:sp>
        <p:nvSpPr>
          <p:cNvPr id="24" name="Shape 22"/>
          <p:cNvSpPr/>
          <p:nvPr/>
        </p:nvSpPr>
        <p:spPr>
          <a:xfrm>
            <a:off x="8165592" y="4535424"/>
            <a:ext cx="65380" cy="65380"/>
          </a:xfrm>
          <a:prstGeom prst="ellipse">
            <a:avLst/>
          </a:prstGeom>
          <a:solidFill>
            <a:srgbClr val="4ADE80">
              <a:alpha val="85000"/>
            </a:srgbClr>
          </a:solidFill>
          <a:ln w="6350">
            <a:solidFill>
              <a:srgbClr val="F8FAFC">
                <a:alpha val="40000"/>
              </a:srgbClr>
            </a:solidFill>
            <a:prstDash val="solid"/>
          </a:ln>
        </p:spPr>
      </p:sp>
      <p:sp>
        <p:nvSpPr>
          <p:cNvPr id="25" name="Shape 23"/>
          <p:cNvSpPr/>
          <p:nvPr/>
        </p:nvSpPr>
        <p:spPr>
          <a:xfrm>
            <a:off x="8769096" y="4585716"/>
            <a:ext cx="100584" cy="100584"/>
          </a:xfrm>
          <a:prstGeom prst="ellipse">
            <a:avLst/>
          </a:prstGeom>
          <a:solidFill>
            <a:srgbClr val="2DD4BF">
              <a:alpha val="85000"/>
            </a:srgbClr>
          </a:solidFill>
          <a:ln w="6350">
            <a:solidFill>
              <a:srgbClr val="F8FAFC">
                <a:alpha val="40000"/>
              </a:srgbClr>
            </a:solidFill>
            <a:prstDash val="solid"/>
          </a:ln>
        </p:spPr>
      </p:sp>
      <p:sp>
        <p:nvSpPr>
          <p:cNvPr id="26" name="Shape 24"/>
          <p:cNvSpPr/>
          <p:nvPr/>
        </p:nvSpPr>
        <p:spPr>
          <a:xfrm>
            <a:off x="8970264" y="4032504"/>
            <a:ext cx="65380" cy="65380"/>
          </a:xfrm>
          <a:prstGeom prst="ellipse">
            <a:avLst/>
          </a:prstGeom>
          <a:solidFill>
            <a:srgbClr val="38BDF8">
              <a:alpha val="85000"/>
            </a:srgbClr>
          </a:solidFill>
          <a:ln w="6350">
            <a:solidFill>
              <a:srgbClr val="F8FAFC">
                <a:alpha val="40000"/>
              </a:srgbClr>
            </a:solidFill>
            <a:prstDash val="solid"/>
          </a:ln>
        </p:spPr>
      </p:sp>
      <p:sp>
        <p:nvSpPr>
          <p:cNvPr id="27" name="Shape 25"/>
          <p:cNvSpPr/>
          <p:nvPr/>
        </p:nvSpPr>
        <p:spPr>
          <a:xfrm>
            <a:off x="8567928" y="4988052"/>
            <a:ext cx="65380" cy="65380"/>
          </a:xfrm>
          <a:prstGeom prst="ellipse">
            <a:avLst/>
          </a:prstGeom>
          <a:solidFill>
            <a:srgbClr val="4ADE80">
              <a:alpha val="85000"/>
            </a:srgbClr>
          </a:solidFill>
          <a:ln w="6350">
            <a:solidFill>
              <a:srgbClr val="F8FAFC">
                <a:alpha val="40000"/>
              </a:srgbClr>
            </a:solidFill>
            <a:prstDash val="solid"/>
          </a:ln>
        </p:spPr>
      </p:sp>
      <p:sp>
        <p:nvSpPr>
          <p:cNvPr id="28" name="Text 26"/>
          <p:cNvSpPr/>
          <p:nvPr/>
        </p:nvSpPr>
        <p:spPr>
          <a:xfrm>
            <a:off x="640080" y="640080"/>
            <a:ext cx="5486400" cy="320040"/>
          </a:xfrm>
          <a:prstGeom prst="rect">
            <a:avLst/>
          </a:prstGeom>
          <a:noFill/>
          <a:ln/>
        </p:spPr>
        <p:txBody>
          <a:bodyPr wrap="square" rtlCol="0" anchor="ctr"/>
          <a:lstStyle/>
          <a:p>
            <a:pPr indent="0" marL="0">
              <a:buNone/>
            </a:pPr>
            <a:r>
              <a:rPr lang="en-US" sz="1300" b="1" spc="300" kern="0" dirty="0">
                <a:solidFill>
                  <a:srgbClr val="2DD4BF"/>
                </a:solidFill>
                <a:latin typeface="Arial" pitchFamily="34" charset="0"/>
                <a:ea typeface="Arial" pitchFamily="34" charset="-122"/>
                <a:cs typeface="Arial" pitchFamily="34" charset="-120"/>
              </a:rPr>
              <a:t>THE VISION</a:t>
            </a:r>
            <a:endParaRPr lang="en-US" sz="1300" dirty="0"/>
          </a:p>
        </p:txBody>
      </p:sp>
      <p:sp>
        <p:nvSpPr>
          <p:cNvPr id="29" name="Text 27"/>
          <p:cNvSpPr/>
          <p:nvPr/>
        </p:nvSpPr>
        <p:spPr>
          <a:xfrm>
            <a:off x="594360" y="1097280"/>
            <a:ext cx="7955280" cy="1783080"/>
          </a:xfrm>
          <a:prstGeom prst="rect">
            <a:avLst/>
          </a:prstGeom>
          <a:noFill/>
          <a:ln/>
        </p:spPr>
        <p:txBody>
          <a:bodyPr wrap="square" rtlCol="0" anchor="t"/>
          <a:lstStyle/>
          <a:p>
            <a:pPr indent="0" marL="0">
              <a:lnSpc>
                <a:spcPct val="108000"/>
              </a:lnSpc>
              <a:buNone/>
            </a:pPr>
            <a:r>
              <a:rPr lang="en-US" sz="3000" b="1" dirty="0">
                <a:solidFill>
                  <a:srgbClr val="F8FAFC"/>
                </a:solidFill>
                <a:latin typeface="Arial" pitchFamily="34" charset="0"/>
                <a:ea typeface="Arial" pitchFamily="34" charset="-122"/>
                <a:cs typeface="Arial" pitchFamily="34" charset="-120"/>
              </a:rPr>
              <a:t>Turn any knowledge graph into</a:t>
            </a:r>
            <a:endParaRPr lang="en-US" sz="3000" dirty="0"/>
          </a:p>
          <a:p>
            <a:pPr indent="0" marL="0">
              <a:lnSpc>
                <a:spcPct val="108000"/>
              </a:lnSpc>
              <a:buNone/>
            </a:pPr>
            <a:r>
              <a:rPr lang="en-US" sz="3000" b="1" dirty="0">
                <a:solidFill>
                  <a:srgbClr val="F8FAFC"/>
                </a:solidFill>
                <a:latin typeface="Arial" pitchFamily="34" charset="0"/>
                <a:ea typeface="Arial" pitchFamily="34" charset="-122"/>
                <a:cs typeface="Arial" pitchFamily="34" charset="-120"/>
              </a:rPr>
              <a:t>something </a:t>
            </a:r>
            <a:endParaRPr lang="en-US" sz="3000" dirty="0"/>
          </a:p>
          <a:p>
            <a:pPr indent="0" marL="0">
              <a:lnSpc>
                <a:spcPct val="108000"/>
              </a:lnSpc>
              <a:buNone/>
            </a:pPr>
            <a:r>
              <a:rPr lang="en-US" sz="3000" b="1" dirty="0">
                <a:solidFill>
                  <a:srgbClr val="2DD4BF"/>
                </a:solidFill>
                <a:latin typeface="Arial" pitchFamily="34" charset="0"/>
                <a:ea typeface="Arial" pitchFamily="34" charset="-122"/>
                <a:cs typeface="Arial" pitchFamily="34" charset="-120"/>
              </a:rPr>
              <a:t>an AI can reason over</a:t>
            </a:r>
            <a:pPr indent="0" marL="0">
              <a:lnSpc>
                <a:spcPct val="108000"/>
              </a:lnSpc>
              <a:buNone/>
            </a:pPr>
            <a:r>
              <a:rPr lang="en-US" sz="3000" b="1" dirty="0">
                <a:solidFill>
                  <a:srgbClr val="F8FAFC"/>
                </a:solidFill>
                <a:latin typeface="Arial" pitchFamily="34" charset="0"/>
                <a:ea typeface="Arial" pitchFamily="34" charset="-122"/>
                <a:cs typeface="Arial" pitchFamily="34" charset="-120"/>
              </a:rPr>
              <a:t> — safely, just by asking.</a:t>
            </a:r>
            <a:endParaRPr lang="en-US" sz="3000" dirty="0"/>
          </a:p>
        </p:txBody>
      </p:sp>
      <p:sp>
        <p:nvSpPr>
          <p:cNvPr id="30" name="Text 28"/>
          <p:cNvSpPr/>
          <p:nvPr/>
        </p:nvSpPr>
        <p:spPr>
          <a:xfrm>
            <a:off x="640080" y="3154680"/>
            <a:ext cx="4572000" cy="274320"/>
          </a:xfrm>
          <a:prstGeom prst="rect">
            <a:avLst/>
          </a:prstGeom>
          <a:noFill/>
          <a:ln/>
        </p:spPr>
        <p:txBody>
          <a:bodyPr wrap="square" rtlCol="0" anchor="ctr"/>
          <a:lstStyle/>
          <a:p>
            <a:pPr indent="0" marL="0">
              <a:buNone/>
            </a:pPr>
            <a:r>
              <a:rPr lang="en-US" sz="1100" b="1" spc="200" kern="0" dirty="0">
                <a:solidFill>
                  <a:srgbClr val="64748B"/>
                </a:solidFill>
                <a:latin typeface="Arial" pitchFamily="34" charset="0"/>
                <a:ea typeface="Arial" pitchFamily="34" charset="-122"/>
                <a:cs typeface="Arial" pitchFamily="34" charset="-120"/>
              </a:rPr>
              <a:t>WHAT'S NEXT</a:t>
            </a:r>
            <a:endParaRPr lang="en-US" sz="1100" dirty="0"/>
          </a:p>
        </p:txBody>
      </p:sp>
      <p:sp>
        <p:nvSpPr>
          <p:cNvPr id="31" name="Shape 29"/>
          <p:cNvSpPr/>
          <p:nvPr/>
        </p:nvSpPr>
        <p:spPr>
          <a:xfrm>
            <a:off x="658368" y="3566160"/>
            <a:ext cx="109728" cy="109728"/>
          </a:xfrm>
          <a:prstGeom prst="ellipse">
            <a:avLst/>
          </a:prstGeom>
          <a:solidFill>
            <a:srgbClr val="4ADE80"/>
          </a:solidFill>
          <a:ln/>
        </p:spPr>
      </p:sp>
      <p:sp>
        <p:nvSpPr>
          <p:cNvPr id="32" name="Text 30"/>
          <p:cNvSpPr/>
          <p:nvPr/>
        </p:nvSpPr>
        <p:spPr>
          <a:xfrm>
            <a:off x="896112" y="3447288"/>
            <a:ext cx="5212080" cy="32004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Broaden FastPath pattern coverage</a:t>
            </a:r>
            <a:endParaRPr lang="en-US" sz="1350" dirty="0"/>
          </a:p>
        </p:txBody>
      </p:sp>
      <p:sp>
        <p:nvSpPr>
          <p:cNvPr id="33" name="Shape 31"/>
          <p:cNvSpPr/>
          <p:nvPr/>
        </p:nvSpPr>
        <p:spPr>
          <a:xfrm>
            <a:off x="658368" y="3950208"/>
            <a:ext cx="109728" cy="109728"/>
          </a:xfrm>
          <a:prstGeom prst="ellipse">
            <a:avLst/>
          </a:prstGeom>
          <a:solidFill>
            <a:srgbClr val="4ADE80"/>
          </a:solidFill>
          <a:ln/>
        </p:spPr>
      </p:sp>
      <p:sp>
        <p:nvSpPr>
          <p:cNvPr id="34" name="Text 32"/>
          <p:cNvSpPr/>
          <p:nvPr/>
        </p:nvSpPr>
        <p:spPr>
          <a:xfrm>
            <a:off x="896112" y="3831336"/>
            <a:ext cx="5212080" cy="32004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Per-user auth &amp; access control on the MCP layer</a:t>
            </a:r>
            <a:endParaRPr lang="en-US" sz="1350" dirty="0"/>
          </a:p>
        </p:txBody>
      </p:sp>
      <p:sp>
        <p:nvSpPr>
          <p:cNvPr id="35" name="Shape 33"/>
          <p:cNvSpPr/>
          <p:nvPr/>
        </p:nvSpPr>
        <p:spPr>
          <a:xfrm>
            <a:off x="658368" y="4334256"/>
            <a:ext cx="109728" cy="109728"/>
          </a:xfrm>
          <a:prstGeom prst="ellipse">
            <a:avLst/>
          </a:prstGeom>
          <a:solidFill>
            <a:srgbClr val="4ADE80"/>
          </a:solidFill>
          <a:ln/>
        </p:spPr>
      </p:sp>
      <p:sp>
        <p:nvSpPr>
          <p:cNvPr id="36" name="Text 34"/>
          <p:cNvSpPr/>
          <p:nvPr/>
        </p:nvSpPr>
        <p:spPr>
          <a:xfrm>
            <a:off x="896112" y="4215384"/>
            <a:ext cx="5212080" cy="320040"/>
          </a:xfrm>
          <a:prstGeom prst="rect">
            <a:avLst/>
          </a:prstGeom>
          <a:noFill/>
          <a:ln/>
        </p:spPr>
        <p:txBody>
          <a:bodyPr wrap="square" lIns="0" tIns="0" rIns="0" bIns="0" rtlCol="0" anchor="ctr"/>
          <a:lstStyle/>
          <a:p>
            <a:pPr indent="0" marL="0">
              <a:buNone/>
            </a:pPr>
            <a:r>
              <a:rPr lang="en-US" sz="1350" dirty="0">
                <a:solidFill>
                  <a:srgbClr val="94A3B8"/>
                </a:solidFill>
                <a:latin typeface="Calibri" pitchFamily="34" charset="0"/>
                <a:ea typeface="Calibri" pitchFamily="34" charset="-122"/>
                <a:cs typeface="Calibri" pitchFamily="34" charset="-120"/>
              </a:rPr>
              <a:t>Approved write actions — beyond read-only</a:t>
            </a:r>
            <a:endParaRPr lang="en-US" sz="1350" dirty="0"/>
          </a:p>
        </p:txBody>
      </p:sp>
      <p:sp>
        <p:nvSpPr>
          <p:cNvPr id="37" name="Text 35"/>
          <p:cNvSpPr/>
          <p:nvPr/>
        </p:nvSpPr>
        <p:spPr>
          <a:xfrm>
            <a:off x="640080" y="4645152"/>
            <a:ext cx="7772400" cy="365760"/>
          </a:xfrm>
          <a:prstGeom prst="rect">
            <a:avLst/>
          </a:prstGeom>
          <a:noFill/>
          <a:ln/>
        </p:spPr>
        <p:txBody>
          <a:bodyPr wrap="square" rtlCol="0" anchor="ctr"/>
          <a:lstStyle/>
          <a:p>
            <a:pPr indent="0" marL="0">
              <a:buNone/>
            </a:pPr>
            <a:r>
              <a:rPr lang="en-US" sz="1400" b="1" i="1" dirty="0">
                <a:solidFill>
                  <a:srgbClr val="F8FAFC"/>
                </a:solidFill>
                <a:latin typeface="Calibri" pitchFamily="34" charset="0"/>
                <a:ea typeface="Calibri" pitchFamily="34" charset="-122"/>
                <a:cs typeface="Calibri" pitchFamily="34" charset="-120"/>
              </a:rPr>
              <a:t>Graph Mind</a:t>
            </a:r>
            <a:pPr indent="0" marL="0">
              <a:buNone/>
            </a:pPr>
            <a:r>
              <a:rPr lang="en-US" sz="1400" i="1" dirty="0">
                <a:solidFill>
                  <a:srgbClr val="94A3B8"/>
                </a:solidFill>
                <a:latin typeface="Calibri" pitchFamily="34" charset="0"/>
                <a:ea typeface="Calibri" pitchFamily="34" charset="-122"/>
                <a:cs typeface="Calibri" pitchFamily="34" charset="-120"/>
              </a:rPr>
              <a:t>  —  natural language in, graph intelligence out.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Mind — Hackathon Pitch</dc:title>
  <dc:subject>PptxGenJS Presentation</dc:subject>
  <dc:creator>Graph Mind Team</dc:creator>
  <cp:lastModifiedBy>Graph Mind Team</cp:lastModifiedBy>
  <cp:revision>1</cp:revision>
  <dcterms:created xsi:type="dcterms:W3CDTF">2026-06-11T19:39:37Z</dcterms:created>
  <dcterms:modified xsi:type="dcterms:W3CDTF">2026-06-11T19:39:37Z</dcterms:modified>
</cp:coreProperties>
</file>